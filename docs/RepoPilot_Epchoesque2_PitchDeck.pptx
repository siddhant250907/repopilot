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oppins"/>
      <p:regular r:id="rId12"/>
      <p:bold r:id="rId13"/>
      <p:italic r:id="rId14"/>
      <p:boldItalic r:id="rId15"/>
    </p:embeddedFont>
    <p:embeddedFont>
      <p:font typeface="Bebas Neue"/>
      <p:regular r:id="rId16"/>
    </p:embeddedFont>
    <p:embeddedFont>
      <p:font typeface="Barl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Poppins-regular.fntdata"/><Relationship Id="rId13" Type="http://schemas.openxmlformats.org/officeDocument/2006/relationships/font" Target="fonts/Poppins-bold.fntdata"/><Relationship Id="rId14" Type="http://schemas.openxmlformats.org/officeDocument/2006/relationships/font" Target="fonts/Poppins-italic.fntdata"/><Relationship Id="rId15" Type="http://schemas.openxmlformats.org/officeDocument/2006/relationships/font" Target="fonts/Poppins-boldItalic.fntdata"/><Relationship Id="rId16" Type="http://schemas.openxmlformats.org/officeDocument/2006/relationships/font" Target="fonts/BebasNeue-regular.fntdata"/><Relationship Id="rId17" Type="http://schemas.openxmlformats.org/officeDocument/2006/relationships/font" Target="fonts/Barlow-regular.fntdata"/><Relationship Id="rId18" Type="http://schemas.openxmlformats.org/officeDocument/2006/relationships/font" Target="fonts/Barlow-bold.fntdata"/><Relationship Id="rId19" Type="http://schemas.openxmlformats.org/officeDocument/2006/relationships/font" Target="fonts/Barlow-italic.fntdata"/><Relationship Id="rId20" Type="http://schemas.openxmlformats.org/officeDocument/2006/relationships/font" Target="fonts/Barlow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09d7b2261c_1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409d7b2261c_13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bas Neue"/>
              <a:buNone/>
              <a:defRPr i="0" sz="44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188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Poppins"/>
              <a:buChar char="•"/>
              <a:defRPr i="0" sz="2800" u="none" cap="none" strike="noStrike"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Poppins"/>
              <a:buChar char="•"/>
              <a:defRPr i="0" sz="2400" u="none" cap="none" strike="noStrike"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Poppins"/>
              <a:buChar char="•"/>
              <a:defRPr i="0" sz="2000" u="none" cap="none" strike="noStrike"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i="0" sz="1800" u="none" cap="none" strike="noStrike"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i="0" sz="1800" u="none" cap="none" strike="noStrike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i="0" sz="1800" u="none" cap="none" strike="noStrike"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i="0" sz="1800" u="none" cap="none" strike="noStrike"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i="0" sz="1800" u="none" cap="none" strike="noStrike"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i="0" sz="1800" u="none" cap="none" strike="noStrike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 title="i hackathon (3)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38200" y="401500"/>
            <a:ext cx="758250" cy="7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 title="i_hackathon-removebg-previe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39376" y="317500"/>
            <a:ext cx="2664498" cy="93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title="i_hackathon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763" y="178600"/>
            <a:ext cx="2622535" cy="931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 title="Screenshot 2026-09-15 at 9.07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96" y="1519623"/>
            <a:ext cx="3484549" cy="15176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2240280" y="2999232"/>
            <a:ext cx="7680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0" b="1">
                <a:solidFill>
                  <a:srgbClr val="16223C"/>
                </a:solidFill>
                <a:latin typeface="Arial"/>
              </a:rPr>
              <a:t>RepoPilot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17720" y="3584448"/>
            <a:ext cx="16002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828800" y="3803904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A0A0C"/>
                </a:solidFill>
                <a:latin typeface="Arial"/>
              </a:rPr>
              <a:t>BUILD THE BRAIN.  DEBUG ON AUTOPILOT.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43200" y="4370832"/>
            <a:ext cx="6583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2232A"/>
                </a:solidFill>
                <a:latin typeface="Arial"/>
              </a:rPr>
              <a:t>Track 2 — Build the Brain, Not the Puppet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86000" y="4828032"/>
            <a:ext cx="74980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370"/>
                </a:solidFill>
                <a:latin typeface="Arial"/>
              </a:rPr>
              <a:t>Team: Person 1 — Agent Brain  |  Person 2 — Tools &amp; Security  |  Person 3 — Frontend, API &amp;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3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/>
              </a:rPr>
              <a:t>Problem Understanding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1248" y="2148840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6223C"/>
                </a:solidFill>
                <a:latin typeface="Arial"/>
              </a:rPr>
              <a:t>DEBUGGING IS NOT A CHECKLIST.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" y="2670048"/>
            <a:ext cx="47091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0A0A0C"/>
                </a:solidFill>
                <a:latin typeface="Arial"/>
              </a:rPr>
              <a:t>Real debugging is iterative: developers inspect code, form hypotheses, run checks, interpret evidence, and change direction when reality disagrees.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806440" y="2148840"/>
            <a:ext cx="4572000" cy="1783080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80760" y="23591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2232A"/>
                </a:solidFill>
                <a:latin typeface="Arial"/>
              </a:rPr>
              <a:t>THE GAP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80760" y="2724912"/>
            <a:ext cx="39776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A0A0C"/>
                </a:solidFill>
                <a:latin typeface="Arial"/>
              </a:rPr>
              <a:t>A fixed workflow can execute actions — but it cannot reliably decide what the next action should be after an unexpected result.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1248" y="4160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/>
              </a:rPr>
              <a:t>FIXED AUTOMATION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68680" y="4572000"/>
            <a:ext cx="9875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0A0C"/>
                </a:solidFill>
                <a:latin typeface="Arial"/>
              </a:rPr>
              <a:t>Task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874519" y="4855464"/>
            <a:ext cx="228601" cy="0"/>
          </a:xfrm>
          <a:prstGeom prst="line">
            <a:avLst/>
          </a:prstGeom>
          <a:ln w="19050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2130552" y="4572000"/>
            <a:ext cx="9875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0A0C"/>
                </a:solidFill>
                <a:latin typeface="Arial"/>
              </a:rPr>
              <a:t>Tool A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3136391" y="4855464"/>
            <a:ext cx="228600" cy="0"/>
          </a:xfrm>
          <a:prstGeom prst="line">
            <a:avLst/>
          </a:prstGeom>
          <a:ln w="19050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3392424" y="4572000"/>
            <a:ext cx="9875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0A0C"/>
                </a:solidFill>
                <a:latin typeface="Arial"/>
              </a:rPr>
              <a:t>Tool B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4398264" y="4855464"/>
            <a:ext cx="228600" cy="0"/>
          </a:xfrm>
          <a:prstGeom prst="line">
            <a:avLst/>
          </a:prstGeom>
          <a:ln w="19050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4654296" y="4572000"/>
            <a:ext cx="9875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0A0C"/>
                </a:solidFill>
                <a:latin typeface="Arial"/>
              </a:rPr>
              <a:t>Done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46520" y="4160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/>
              </a:rPr>
              <a:t>AUTONOMOUS LOOP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989320" y="452628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6223C"/>
                </a:solidFill>
                <a:latin typeface="Arial"/>
              </a:rPr>
              <a:t>Task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406640" y="452628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6223C"/>
                </a:solidFill>
                <a:latin typeface="Arial"/>
              </a:rPr>
              <a:t>Plan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23960" y="452628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6223C"/>
                </a:solidFill>
                <a:latin typeface="Arial"/>
              </a:rPr>
              <a:t>Choose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989320" y="534924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6223C"/>
                </a:solidFill>
                <a:latin typeface="Arial"/>
              </a:rPr>
              <a:t>Observe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406640" y="5349240"/>
            <a:ext cx="1170432" cy="502920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6223C"/>
                </a:solidFill>
                <a:latin typeface="Arial"/>
              </a:rPr>
              <a:t>Replan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823960" y="534924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6223C"/>
                </a:solidFill>
                <a:latin typeface="Arial"/>
              </a:rPr>
              <a:t>Verify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8680" y="5989320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223C"/>
                </a:solidFill>
                <a:latin typeface="Arial"/>
              </a:rPr>
              <a:t>Track requirement: BUILD THE BRAIN, NOT THE PUPPET — the agent adapts from observations rather than following a predetermined 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99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/>
              </a:rPr>
              <a:t>Technical Architecture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1248" y="21945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/>
              </a:rPr>
              <a:t>STACK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68680" y="2578608"/>
            <a:ext cx="3703320" cy="475488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3271" y="26609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Frontend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74519" y="2651760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React / Vite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68680" y="3200400"/>
            <a:ext cx="3703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3271" y="3282696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API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74519" y="3273552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FastAPI + Pydantic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68680" y="3822191"/>
            <a:ext cx="3703320" cy="475488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3271" y="390448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Agent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74519" y="3895344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AgentCore + LLM interface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8680" y="4443983"/>
            <a:ext cx="3703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3271" y="452628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Tools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74519" y="4517136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File • Shell • Search • Calculator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68680" y="5065776"/>
            <a:ext cx="3703320" cy="475488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3271" y="5148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Testing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74519" y="5138928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Pytest + integration tests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74920" y="21945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/>
              </a:rPr>
              <a:t>DATA FLOW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074920" y="2578608"/>
            <a:ext cx="5166360" cy="402336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>User task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7653527" y="2980944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5074920" y="3090672"/>
            <a:ext cx="5166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>FastAPI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653527" y="3493008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5074920" y="3602736"/>
            <a:ext cx="5166360" cy="402336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0A0C"/>
                </a:solidFill>
                <a:latin typeface="Arial"/>
              </a:rPr>
              <a:t>AgentCore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7653527" y="4005072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5074920" y="4114800"/>
            <a:ext cx="5166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>Tool Registry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7653527" y="4517136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5074920" y="4626864"/>
            <a:ext cx="5166360" cy="402336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0A0C"/>
                </a:solidFill>
                <a:latin typeface="Arial"/>
              </a:rPr>
              <a:t>Tool result / observation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7653527" y="5029200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5074920" y="5138928"/>
            <a:ext cx="5166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>Next action or final result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680" y="5715000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Arial"/>
              </a:rPr>
              <a:t>Agent modules: Planner • Memory • Parser • Tool Registry • Events  |  Demo repos: broken-login • broken-python • broken-api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05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/>
              </a:rPr>
              <a:t>Proposed Solution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1248" y="217627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0A0A0C"/>
                </a:solidFill>
                <a:latin typeface="Arial"/>
              </a:rPr>
              <a:t>RepoPilot is an autonomous AI software debugging engineer that investigates repositories, selects tools, observes results, recovers from failures, and verifies a solution.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94360" y="3063240"/>
            <a:ext cx="960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6223C"/>
                </a:solidFill>
                <a:latin typeface="Arial"/>
              </a:rPr>
              <a:t>TASK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563624" y="3374136"/>
            <a:ext cx="256031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1874519" y="3063240"/>
            <a:ext cx="960120" cy="621792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6223C"/>
                </a:solidFill>
                <a:latin typeface="Arial"/>
              </a:rPr>
              <a:t>PLAN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2843784" y="3374136"/>
            <a:ext cx="256032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3154680" y="3063240"/>
            <a:ext cx="960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6223C"/>
                </a:solidFill>
                <a:latin typeface="Arial"/>
              </a:rPr>
              <a:t>ACT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4123944" y="3374136"/>
            <a:ext cx="256032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4434840" y="3063240"/>
            <a:ext cx="960120" cy="621792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6223C"/>
                </a:solidFill>
                <a:latin typeface="Arial"/>
              </a:rPr>
              <a:t>OBSERVE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404104" y="3374136"/>
            <a:ext cx="256032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5715000" y="3063240"/>
            <a:ext cx="960120" cy="621792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6223C"/>
                </a:solidFill>
                <a:latin typeface="Arial"/>
              </a:rPr>
              <a:t>REFLECT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6684264" y="3374136"/>
            <a:ext cx="256032" cy="0"/>
          </a:xfrm>
          <a:prstGeom prst="line">
            <a:avLst/>
          </a:prstGeom>
          <a:ln w="17780">
            <a:solidFill>
              <a:srgbClr val="D2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6995160" y="3063240"/>
            <a:ext cx="960120" cy="621792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6223C"/>
                </a:solidFill>
                <a:latin typeface="Arial"/>
              </a:rPr>
              <a:t>REPLAN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7964424" y="3374136"/>
            <a:ext cx="256032" cy="0"/>
          </a:xfrm>
          <a:prstGeom prst="line">
            <a:avLst/>
          </a:prstGeom>
          <a:ln w="17780">
            <a:solidFill>
              <a:srgbClr val="D2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8275320" y="3063240"/>
            <a:ext cx="960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6223C"/>
                </a:solidFill>
                <a:latin typeface="Arial"/>
              </a:rPr>
              <a:t>VERIFY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244584" y="3374136"/>
            <a:ext cx="256031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9555480" y="3063240"/>
            <a:ext cx="960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6223C"/>
                </a:solidFill>
                <a:latin typeface="Arial"/>
              </a:rPr>
              <a:t>RESULT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1248" y="41605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/>
              </a:rPr>
              <a:t>KEY DIFFERENTIATOR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68680" y="4526280"/>
            <a:ext cx="4709160" cy="1234440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0A0A0C"/>
                </a:solidFill>
                <a:latin typeface="Arial"/>
              </a:rPr>
              <a:t>The next action is chosen from what the agent observes — not from a hardcoded debugging sequence.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897880" y="41605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WHAT THE USER SEES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897880" y="4526280"/>
            <a:ext cx="4572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80760" y="460857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Trace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4599432"/>
            <a:ext cx="28803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Plan / tool / observation events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897880" y="5029200"/>
            <a:ext cx="4572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80760" y="511149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Recovery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15200" y="5102352"/>
            <a:ext cx="28803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Failure → reflection → replan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897880" y="5532120"/>
            <a:ext cx="4572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80760" y="561441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Verification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315200" y="5605272"/>
            <a:ext cx="28803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Tests / checks before final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1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/>
              </a:rPr>
              <a:t>Innovation &amp; Novelty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68680" y="2331720"/>
            <a:ext cx="4663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3271" y="2459736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/>
              </a:rPr>
              <a:t>01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54480" y="2459736"/>
            <a:ext cx="37490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223C"/>
                </a:solidFill>
                <a:latin typeface="Arial"/>
              </a:rPr>
              <a:t>AUTONOMOUS TOOL SELECTION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54480" y="2953512"/>
            <a:ext cx="37490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Chooses among available tools based on the current debugging state.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897880" y="2331720"/>
            <a:ext cx="4663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62472" y="2459736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/>
              </a:rPr>
              <a:t>02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83680" y="2459736"/>
            <a:ext cx="37490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223C"/>
                </a:solidFill>
                <a:latin typeface="Arial"/>
              </a:rPr>
              <a:t>OBSERVATION-DRIVEN REASONING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83680" y="2953512"/>
            <a:ext cx="37490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Tool outputs become evidence for the next decision.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68680" y="4160520"/>
            <a:ext cx="4663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33271" y="4288536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/>
              </a:rPr>
              <a:t>03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554480" y="4288536"/>
            <a:ext cx="37490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223C"/>
                </a:solidFill>
                <a:latin typeface="Arial"/>
              </a:rPr>
              <a:t>FAILURE → REFLECTION → REPLAN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554480" y="4782312"/>
            <a:ext cx="37490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Unexpected results trigger adaptation instead of simple termination.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897880" y="4160520"/>
            <a:ext cx="4663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62472" y="4288536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/>
              </a:rPr>
              <a:t>04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583680" y="4288536"/>
            <a:ext cx="37490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223C"/>
                </a:solidFill>
                <a:latin typeface="Arial"/>
              </a:rPr>
              <a:t>FROM SCRIPT TO AGENT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83680" y="4782312"/>
            <a:ext cx="37490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The core abstraction is an OODA-style loop, not a fixed command chain.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680" y="580644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2232A"/>
                </a:solidFill>
                <a:latin typeface="Arial"/>
              </a:rPr>
              <a:t>AUTOMATION  A → B → C     |     REPΟPILOT  OBSERVE → DECIDE → ACT → ADAPT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/>
              </a:rPr>
              <a:t>Impact &amp; Benefits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68680" y="22402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/>
              </a:rPr>
              <a:t>CURRENT PROTOTYPE SCOPE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68680" y="2651760"/>
            <a:ext cx="2011680" cy="82296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16223C"/>
                </a:solidFill>
                <a:latin typeface="Arial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39" y="2779776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D2232A"/>
                </a:solidFill>
                <a:latin typeface="Arial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27048" y="2779776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0A0C"/>
                </a:solidFill>
                <a:latin typeface="Arial"/>
              </a:rPr>
              <a:t>demo repository types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00400" y="2651760"/>
            <a:ext cx="2011680" cy="82296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16223C"/>
                </a:solidFill>
                <a:latin typeface="Arial"/>
              </a:rPr>
              <a:t/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37560" y="2779776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D2232A"/>
                </a:solidFill>
                <a:latin typeface="Arial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58768" y="2779776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0A0C"/>
                </a:solidFill>
                <a:latin typeface="Arial"/>
              </a:rPr>
              <a:t>demo scenarios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68680" y="3703320"/>
            <a:ext cx="2011680" cy="82296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16223C"/>
                </a:solidFill>
                <a:latin typeface="Arial"/>
              </a:rPr>
              <a:t/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05839" y="3831335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D2232A"/>
                </a:solidFill>
                <a:latin typeface="Arial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527048" y="3831335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0A0C"/>
                </a:solidFill>
                <a:latin typeface="Arial"/>
              </a:rPr>
              <a:t>tool classes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200400" y="3703320"/>
            <a:ext cx="2011680" cy="82296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16223C"/>
                </a:solidFill>
                <a:latin typeface="Arial"/>
              </a:rPr>
              <a:t/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37560" y="3831335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D2232A"/>
                </a:solidFill>
                <a:latin typeface="Arial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858768" y="3831335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0A0C"/>
                </a:solidFill>
                <a:latin typeface="Arial"/>
              </a:rPr>
              <a:t>adaptive agent loop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897880" y="22402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/>
              </a:rPr>
              <a:t>WHO BENEFITS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897880" y="2651760"/>
            <a:ext cx="4572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080760" y="2788920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Developers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52360" y="2752344"/>
            <a:ext cx="2788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Less manual investigation and clearer debugging evidence.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897880" y="3611880"/>
            <a:ext cx="4572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080760" y="3749039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Engineering teams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52360" y="3712463"/>
            <a:ext cx="2788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Repeatable tool-assisted investigation with visible execution history.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897880" y="4572000"/>
            <a:ext cx="4572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0A0C"/>
                </a:solidFill>
                <a:latin typeface="Arial"/>
              </a:rPr>
              <a:t/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80760" y="4709160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/>
              </a:rPr>
              <a:t>Agent builders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52360" y="4672583"/>
            <a:ext cx="2788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/>
              </a:rPr>
              <a:t>A concrete example of autonomous planning, observation and recovery.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68680" y="4892040"/>
            <a:ext cx="9601200" cy="658368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0A0C"/>
                </a:solidFill>
                <a:latin typeface="Arial"/>
              </a:rPr>
              <a:t>Impact claim: RepoPilot targets reduced repetitive debugging effort and faster evidence gathering. No unmeasured productivity percentages are claimed.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" y="57150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0"/>
                </a:solidFill>
                <a:latin typeface="Arial"/>
              </a:rPr>
              <a:t>SDG relevance: SDG 9 — Industry, Innovation &amp; Infrastructure (software innovation / developer infrastructure).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