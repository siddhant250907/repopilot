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Bebas Neue" panose="020B0606020202050201" pitchFamily="34" charset="0"/>
      <p:regular r:id="rId9"/>
    </p:embeddedFont>
    <p:embeddedFont>
      <p:font typeface="Poppins" panose="00000500000000000000" pitchFamily="2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ddhant Asati" userId="f714eb6b166d2c65" providerId="LiveId" clId="{2F15454B-8AC4-4A74-A40A-4746D4B03782}"/>
    <pc:docChg chg="modSld">
      <pc:chgData name="Siddhant Asati" userId="f714eb6b166d2c65" providerId="LiveId" clId="{2F15454B-8AC4-4A74-A40A-4746D4B03782}" dt="2026-09-18T05:43:01.632" v="58" actId="20577"/>
      <pc:docMkLst>
        <pc:docMk/>
      </pc:docMkLst>
      <pc:sldChg chg="modSp mod">
        <pc:chgData name="Siddhant Asati" userId="f714eb6b166d2c65" providerId="LiveId" clId="{2F15454B-8AC4-4A74-A40A-4746D4B03782}" dt="2026-09-18T05:43:01.632" v="58" actId="20577"/>
        <pc:sldMkLst>
          <pc:docMk/>
          <pc:sldMk cId="0" sldId="256"/>
        </pc:sldMkLst>
        <pc:spChg chg="mod">
          <ac:chgData name="Siddhant Asati" userId="f714eb6b166d2c65" providerId="LiveId" clId="{2F15454B-8AC4-4A74-A40A-4746D4B03782}" dt="2026-09-18T05:43:01.632" v="58" actId="20577"/>
          <ac:spMkLst>
            <pc:docMk/>
            <pc:sldMk cId="0" sldId="256"/>
            <ac:spMk id="9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838200" y="13057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838200" y="25068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838200" y="12494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838200" y="12494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38200" y="12494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12494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ebas Neue" panose="020B0606020202050201"/>
              <a:buNone/>
              <a:defRPr sz="440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Bebas Neue" panose="020B0606020202050201"/>
              <a:buNone/>
              <a:defRPr sz="1800">
                <a:solidFill>
                  <a:srgbClr val="FF0000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Bebas Neue" panose="020B0606020202050201"/>
              <a:buNone/>
              <a:defRPr sz="1800">
                <a:solidFill>
                  <a:srgbClr val="FF0000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Bebas Neue" panose="020B0606020202050201"/>
              <a:buNone/>
              <a:defRPr sz="1800">
                <a:solidFill>
                  <a:srgbClr val="FF0000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Bebas Neue" panose="020B0606020202050201"/>
              <a:buNone/>
              <a:defRPr sz="1800">
                <a:solidFill>
                  <a:srgbClr val="FF0000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Bebas Neue" panose="020B0606020202050201"/>
              <a:buNone/>
              <a:defRPr sz="1800">
                <a:solidFill>
                  <a:srgbClr val="FF0000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Bebas Neue" panose="020B0606020202050201"/>
              <a:buNone/>
              <a:defRPr sz="1800">
                <a:solidFill>
                  <a:srgbClr val="FF0000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Bebas Neue" panose="020B0606020202050201"/>
              <a:buNone/>
              <a:defRPr sz="1800">
                <a:solidFill>
                  <a:srgbClr val="FF0000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Bebas Neue" panose="020B0606020202050201"/>
              <a:buNone/>
              <a:defRPr sz="1800">
                <a:solidFill>
                  <a:srgbClr val="FF0000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188" y="25068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Poppins" panose="00000500000000000000"/>
              <a:buChar char="•"/>
              <a:defRPr sz="2800" i="0" u="none" strike="noStrike" cap="none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Poppins" panose="00000500000000000000"/>
              <a:buChar char="•"/>
              <a:defRPr sz="2400" i="0" u="none" strike="noStrike" cap="none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Poppins" panose="00000500000000000000"/>
              <a:buChar char="•"/>
              <a:defRPr sz="2000" i="0" u="none" strike="noStrike" cap="none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Poppins" panose="00000500000000000000"/>
              <a:buChar char="•"/>
              <a:defRPr sz="1800" i="0" u="none" strike="noStrike" cap="none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Poppins" panose="00000500000000000000"/>
              <a:buChar char="•"/>
              <a:defRPr sz="1800" i="0" u="none" strike="noStrike" cap="none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Poppins" panose="00000500000000000000"/>
              <a:buChar char="•"/>
              <a:defRPr sz="1800" i="0" u="none" strike="noStrike" cap="none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Poppins" panose="00000500000000000000"/>
              <a:buChar char="•"/>
              <a:defRPr sz="1800" i="0" u="none" strike="noStrike" cap="none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Poppins" panose="00000500000000000000"/>
              <a:buChar char="•"/>
              <a:defRPr sz="1800" i="0" u="none" strike="noStrike" cap="none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Poppins" panose="00000500000000000000"/>
              <a:buChar char="•"/>
              <a:defRPr sz="1800" i="0" u="none" strike="noStrike" cap="none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pic>
        <p:nvPicPr>
          <p:cNvPr id="11" name="Google Shape;11;p1" title="i hackathon (3).png"/>
          <p:cNvPicPr preferRelativeResize="0"/>
          <p:nvPr/>
        </p:nvPicPr>
        <p:blipFill>
          <a:blip r:embed="rId13"/>
          <a:stretch>
            <a:fillRect/>
          </a:stretch>
        </p:blipFill>
        <p:spPr>
          <a:xfrm>
            <a:off x="838200" y="401500"/>
            <a:ext cx="758250" cy="76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" title="i_hackathon-removebg-preview.png"/>
          <p:cNvPicPr preferRelativeResize="0"/>
          <p:nvPr/>
        </p:nvPicPr>
        <p:blipFill>
          <a:blip r:embed="rId14"/>
          <a:stretch>
            <a:fillRect/>
          </a:stretch>
        </p:blipFill>
        <p:spPr>
          <a:xfrm>
            <a:off x="9339376" y="317500"/>
            <a:ext cx="2664498" cy="93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 title="i_hackathon__1_-removebg-preview.png"/>
          <p:cNvPicPr preferRelativeResize="0"/>
          <p:nvPr/>
        </p:nvPicPr>
        <p:blipFill>
          <a:blip r:embed="rId15"/>
          <a:stretch>
            <a:fillRect/>
          </a:stretch>
        </p:blipFill>
        <p:spPr>
          <a:xfrm>
            <a:off x="4784763" y="178600"/>
            <a:ext cx="2622535" cy="9319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3" title="Screenshot 2026-09-15 at 9.07.19 PM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500096" y="1519623"/>
            <a:ext cx="3484549" cy="151767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TextBox 89"/>
          <p:cNvSpPr txBox="1"/>
          <p:nvPr/>
        </p:nvSpPr>
        <p:spPr>
          <a:xfrm>
            <a:off x="2240280" y="2999232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100" b="1">
                <a:solidFill>
                  <a:srgbClr val="16223C"/>
                </a:solidFill>
                <a:latin typeface="Arial" panose="020B0604020202020204"/>
              </a:rPr>
              <a:t>RepoPilot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17720" y="3584448"/>
            <a:ext cx="1600200" cy="22860"/>
          </a:xfrm>
          <a:prstGeom prst="rect">
            <a:avLst/>
          </a:prstGeom>
          <a:solidFill>
            <a:srgbClr val="D2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828800" y="3803904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0A0A0C"/>
                </a:solidFill>
                <a:latin typeface="Arial" panose="020B0604020202020204"/>
              </a:rPr>
              <a:t>BUILD THE BRAIN.  DEBUG ON AUTOPILOT.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43200" y="4370832"/>
            <a:ext cx="65836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D2232A"/>
                </a:solidFill>
                <a:latin typeface="Arial" panose="020B0604020202020204"/>
              </a:rPr>
              <a:t>Track 2 — Build the Brain, Not the Puppet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286000" y="4828032"/>
            <a:ext cx="7498079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dirty="0">
                <a:solidFill>
                  <a:srgbClr val="5B6370"/>
                </a:solidFill>
                <a:latin typeface="Arial" panose="020B0604020202020204"/>
              </a:rPr>
              <a:t>Team: </a:t>
            </a:r>
            <a:r>
              <a:rPr lang="en-US" sz="1000" dirty="0">
                <a:solidFill>
                  <a:srgbClr val="5B6370"/>
                </a:solidFill>
              </a:rPr>
              <a:t>Aman Tyagi</a:t>
            </a:r>
            <a:r>
              <a:rPr sz="1000" b="0" dirty="0">
                <a:solidFill>
                  <a:srgbClr val="5B6370"/>
                </a:solidFill>
                <a:latin typeface="Arial" panose="020B0604020202020204"/>
              </a:rPr>
              <a:t> — Agent Brain  |  </a:t>
            </a:r>
            <a:r>
              <a:rPr lang="en-US" sz="1000" dirty="0">
                <a:solidFill>
                  <a:srgbClr val="5B6370"/>
                </a:solidFill>
              </a:rPr>
              <a:t>Sahaj Kumar</a:t>
            </a:r>
            <a:r>
              <a:rPr sz="1000" b="0" dirty="0">
                <a:solidFill>
                  <a:srgbClr val="5B6370"/>
                </a:solidFill>
                <a:latin typeface="Arial" panose="020B0604020202020204"/>
              </a:rPr>
              <a:t> — Tools &amp; Security  |  </a:t>
            </a:r>
            <a:r>
              <a:rPr lang="en-US" sz="1000" dirty="0">
                <a:solidFill>
                  <a:srgbClr val="5B6370"/>
                </a:solidFill>
              </a:rPr>
              <a:t>Siddhant Asati</a:t>
            </a:r>
            <a:r>
              <a:rPr sz="1000" b="0" dirty="0">
                <a:solidFill>
                  <a:srgbClr val="5B6370"/>
                </a:solidFill>
                <a:latin typeface="Arial" panose="020B0604020202020204"/>
              </a:rPr>
              <a:t> — Frontend, API &amp;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93"/>
          <p:cNvSpPr txBox="1"/>
          <p:nvPr/>
        </p:nvSpPr>
        <p:spPr>
          <a:xfrm>
            <a:off x="822960" y="1298448"/>
            <a:ext cx="6400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0A0A0C"/>
                </a:solidFill>
                <a:latin typeface="Arial" panose="020B0604020202020204"/>
              </a:rPr>
              <a:t>Problem Understanding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41248" y="1938528"/>
            <a:ext cx="914400" cy="22860"/>
          </a:xfrm>
          <a:prstGeom prst="rect">
            <a:avLst/>
          </a:prstGeom>
          <a:solidFill>
            <a:srgbClr val="D2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841248" y="2148840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6223C"/>
                </a:solidFill>
                <a:latin typeface="Arial" panose="020B0604020202020204"/>
              </a:rPr>
              <a:t>DEBUGGING IS NOT A CHECKLIST.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41248" y="2670048"/>
            <a:ext cx="470916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0A0A0C"/>
                </a:solidFill>
                <a:latin typeface="Arial" panose="020B0604020202020204"/>
              </a:rPr>
              <a:t>Real debugging is iterative: developers inspect code, form hypotheses, run checks, interpret evidence, and change direction when reality disagrees.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806440" y="2148840"/>
            <a:ext cx="4572000" cy="1783080"/>
          </a:xfrm>
          <a:prstGeom prst="roundRect">
            <a:avLst/>
          </a:prstGeom>
          <a:solidFill>
            <a:srgbClr val="FBEBEC"/>
          </a:solidFill>
          <a:ln w="12700">
            <a:solidFill>
              <a:srgbClr val="D2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 sz="1700" b="0">
              <a:solidFill>
                <a:srgbClr val="0A0A0C"/>
              </a:solidFill>
              <a:latin typeface="Arial" panose="020B0604020202020204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080760" y="2359152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D2232A"/>
                </a:solidFill>
                <a:latin typeface="Arial" panose="020B0604020202020204"/>
              </a:rPr>
              <a:t>THE GAP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080760" y="2724912"/>
            <a:ext cx="3977639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0A0A0C"/>
                </a:solidFill>
                <a:latin typeface="Arial" panose="020B0604020202020204"/>
              </a:rPr>
              <a:t>A fixed workflow can execute actions — but it cannot reliably decide what the next action should be after an unexpected result.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41248" y="41605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5B6370"/>
                </a:solidFill>
                <a:latin typeface="Arial" panose="020B0604020202020204"/>
              </a:rPr>
              <a:t>FIXED AUTOMATION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68680" y="4572000"/>
            <a:ext cx="987552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0A0A0C"/>
                </a:solidFill>
                <a:latin typeface="Arial" panose="020B0604020202020204"/>
              </a:rPr>
              <a:t>Task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1874519" y="4855464"/>
            <a:ext cx="228601" cy="0"/>
          </a:xfrm>
          <a:prstGeom prst="line">
            <a:avLst/>
          </a:prstGeom>
          <a:ln w="19050">
            <a:solidFill>
              <a:srgbClr val="5B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03"/>
          <p:cNvSpPr/>
          <p:nvPr/>
        </p:nvSpPr>
        <p:spPr>
          <a:xfrm>
            <a:off x="2130552" y="4572000"/>
            <a:ext cx="987552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0A0A0C"/>
                </a:solidFill>
                <a:latin typeface="Arial" panose="020B0604020202020204"/>
              </a:rPr>
              <a:t>Tool A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3136391" y="4855464"/>
            <a:ext cx="228600" cy="0"/>
          </a:xfrm>
          <a:prstGeom prst="line">
            <a:avLst/>
          </a:prstGeom>
          <a:ln w="19050">
            <a:solidFill>
              <a:srgbClr val="5B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3392424" y="4572000"/>
            <a:ext cx="987552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0A0A0C"/>
                </a:solidFill>
                <a:latin typeface="Arial" panose="020B0604020202020204"/>
              </a:rPr>
              <a:t>Tool B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4398264" y="4855464"/>
            <a:ext cx="228600" cy="0"/>
          </a:xfrm>
          <a:prstGeom prst="line">
            <a:avLst/>
          </a:prstGeom>
          <a:ln w="19050">
            <a:solidFill>
              <a:srgbClr val="5B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ounded Rectangle 107"/>
          <p:cNvSpPr/>
          <p:nvPr/>
        </p:nvSpPr>
        <p:spPr>
          <a:xfrm>
            <a:off x="4654296" y="4572000"/>
            <a:ext cx="987552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0A0A0C"/>
                </a:solidFill>
                <a:latin typeface="Arial" panose="020B0604020202020204"/>
              </a:rPr>
              <a:t>Done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446520" y="416052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D2232A"/>
                </a:solidFill>
                <a:latin typeface="Arial" panose="020B0604020202020204"/>
              </a:rPr>
              <a:t>AUTONOMOUS LOOP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989320" y="4526280"/>
            <a:ext cx="1170432" cy="502920"/>
          </a:xfrm>
          <a:prstGeom prst="roundRect">
            <a:avLst/>
          </a:prstGeom>
          <a:solidFill>
            <a:srgbClr val="EBEFF6"/>
          </a:solidFill>
          <a:ln w="12700">
            <a:solidFill>
              <a:srgbClr val="16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16223C"/>
                </a:solidFill>
                <a:latin typeface="Arial" panose="020B0604020202020204"/>
              </a:rPr>
              <a:t>Task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406640" y="4526280"/>
            <a:ext cx="1170432" cy="502920"/>
          </a:xfrm>
          <a:prstGeom prst="roundRect">
            <a:avLst/>
          </a:prstGeom>
          <a:solidFill>
            <a:srgbClr val="EBEFF6"/>
          </a:solidFill>
          <a:ln w="12700">
            <a:solidFill>
              <a:srgbClr val="16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16223C"/>
                </a:solidFill>
                <a:latin typeface="Arial" panose="020B0604020202020204"/>
              </a:rPr>
              <a:t>Plan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823960" y="4526280"/>
            <a:ext cx="1170432" cy="502920"/>
          </a:xfrm>
          <a:prstGeom prst="roundRect">
            <a:avLst/>
          </a:prstGeom>
          <a:solidFill>
            <a:srgbClr val="EBEFF6"/>
          </a:solidFill>
          <a:ln w="12700">
            <a:solidFill>
              <a:srgbClr val="16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16223C"/>
                </a:solidFill>
                <a:latin typeface="Arial" panose="020B0604020202020204"/>
              </a:rPr>
              <a:t>Choose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5989320" y="5349240"/>
            <a:ext cx="1170432" cy="502920"/>
          </a:xfrm>
          <a:prstGeom prst="roundRect">
            <a:avLst/>
          </a:prstGeom>
          <a:solidFill>
            <a:srgbClr val="EBEFF6"/>
          </a:solidFill>
          <a:ln w="12700">
            <a:solidFill>
              <a:srgbClr val="16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16223C"/>
                </a:solidFill>
                <a:latin typeface="Arial" panose="020B0604020202020204"/>
              </a:rPr>
              <a:t>Observe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7406640" y="5349240"/>
            <a:ext cx="1170432" cy="502920"/>
          </a:xfrm>
          <a:prstGeom prst="roundRect">
            <a:avLst/>
          </a:prstGeom>
          <a:solidFill>
            <a:srgbClr val="FBEBEC"/>
          </a:solidFill>
          <a:ln w="12700">
            <a:solidFill>
              <a:srgbClr val="D2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16223C"/>
                </a:solidFill>
                <a:latin typeface="Arial" panose="020B0604020202020204"/>
              </a:rPr>
              <a:t>Replan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823960" y="5349240"/>
            <a:ext cx="1170432" cy="502920"/>
          </a:xfrm>
          <a:prstGeom prst="roundRect">
            <a:avLst/>
          </a:prstGeom>
          <a:solidFill>
            <a:srgbClr val="EBEFF6"/>
          </a:solidFill>
          <a:ln w="12700">
            <a:solidFill>
              <a:srgbClr val="16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16223C"/>
                </a:solidFill>
                <a:latin typeface="Arial" panose="020B0604020202020204"/>
              </a:rPr>
              <a:t>Verify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68680" y="5989320"/>
            <a:ext cx="9784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6223C"/>
                </a:solidFill>
                <a:latin typeface="Arial" panose="020B0604020202020204"/>
              </a:rPr>
              <a:t>Track requirement: BUILD THE BRAIN, NOT THE PUPPET — the agent adapts from observations rather than following a predetermined script.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99"/>
          <p:cNvSpPr txBox="1"/>
          <p:nvPr/>
        </p:nvSpPr>
        <p:spPr>
          <a:xfrm>
            <a:off x="822960" y="1298448"/>
            <a:ext cx="6400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0A0A0C"/>
                </a:solidFill>
                <a:latin typeface="Arial" panose="020B0604020202020204"/>
              </a:rPr>
              <a:t>Technical Architecture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41248" y="1938528"/>
            <a:ext cx="914400" cy="22860"/>
          </a:xfrm>
          <a:prstGeom prst="rect">
            <a:avLst/>
          </a:prstGeom>
          <a:solidFill>
            <a:srgbClr val="D2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841248" y="21945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5B6370"/>
                </a:solidFill>
                <a:latin typeface="Arial" panose="020B0604020202020204"/>
              </a:rPr>
              <a:t>STACK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68680" y="2578608"/>
            <a:ext cx="3703320" cy="475488"/>
          </a:xfrm>
          <a:prstGeom prst="roundRect">
            <a:avLst/>
          </a:prstGeom>
          <a:solidFill>
            <a:srgbClr val="EBEFF6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 sz="1200" b="0">
              <a:solidFill>
                <a:srgbClr val="0A0A0C"/>
              </a:solidFill>
              <a:latin typeface="Arial" panose="020B0604020202020204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1033271" y="2660904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6223C"/>
                </a:solidFill>
                <a:latin typeface="Arial" panose="020B0604020202020204"/>
              </a:rPr>
              <a:t>Frontend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874519" y="2651760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A0A0C"/>
                </a:solidFill>
                <a:latin typeface="Arial" panose="020B0604020202020204"/>
              </a:rPr>
              <a:t>React / Vite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68680" y="3200400"/>
            <a:ext cx="37033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 sz="1200" b="0">
              <a:solidFill>
                <a:srgbClr val="0A0A0C"/>
              </a:solidFill>
              <a:latin typeface="Arial" panose="020B0604020202020204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033271" y="3282696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6223C"/>
                </a:solidFill>
                <a:latin typeface="Arial" panose="020B0604020202020204"/>
              </a:rPr>
              <a:t>API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874519" y="3273552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A0A0C"/>
                </a:solidFill>
                <a:latin typeface="Arial" panose="020B0604020202020204"/>
              </a:rPr>
              <a:t>FastAPI + Pydantic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68680" y="3822191"/>
            <a:ext cx="3703320" cy="475488"/>
          </a:xfrm>
          <a:prstGeom prst="roundRect">
            <a:avLst/>
          </a:prstGeom>
          <a:solidFill>
            <a:srgbClr val="FBEBEC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 sz="1200" b="0">
              <a:solidFill>
                <a:srgbClr val="0A0A0C"/>
              </a:solidFill>
              <a:latin typeface="Arial" panose="020B0604020202020204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1033271" y="390448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6223C"/>
                </a:solidFill>
                <a:latin typeface="Arial" panose="020B0604020202020204"/>
              </a:rPr>
              <a:t>Agent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874519" y="3895344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A0A0C"/>
                </a:solidFill>
                <a:latin typeface="Arial" panose="020B0604020202020204"/>
              </a:rPr>
              <a:t>AgentCore + LLM interface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68680" y="4443983"/>
            <a:ext cx="37033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 sz="1200" b="0">
              <a:solidFill>
                <a:srgbClr val="0A0A0C"/>
              </a:solidFill>
              <a:latin typeface="Arial" panose="020B0604020202020204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1033271" y="452628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6223C"/>
                </a:solidFill>
                <a:latin typeface="Arial" panose="020B0604020202020204"/>
              </a:rPr>
              <a:t>Tools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874519" y="4517136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A0A0C"/>
                </a:solidFill>
                <a:latin typeface="Arial" panose="020B0604020202020204"/>
              </a:rPr>
              <a:t>File • Shell • Search • Calculator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68680" y="5065776"/>
            <a:ext cx="3703320" cy="475488"/>
          </a:xfrm>
          <a:prstGeom prst="roundRect">
            <a:avLst/>
          </a:prstGeom>
          <a:solidFill>
            <a:srgbClr val="EBEFF6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 sz="1200" b="0">
              <a:solidFill>
                <a:srgbClr val="0A0A0C"/>
              </a:solidFill>
              <a:latin typeface="Arial" panose="020B0604020202020204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1033271" y="5148072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6223C"/>
                </a:solidFill>
                <a:latin typeface="Arial" panose="020B0604020202020204"/>
              </a:rPr>
              <a:t>Testing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874519" y="5138928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A0A0C"/>
                </a:solidFill>
                <a:latin typeface="Arial" panose="020B0604020202020204"/>
              </a:rPr>
              <a:t>Pytest + integration tests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074920" y="21945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5B6370"/>
                </a:solidFill>
                <a:latin typeface="Arial" panose="020B0604020202020204"/>
              </a:rPr>
              <a:t>DATA FLOW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5074920" y="2578608"/>
            <a:ext cx="5166360" cy="402336"/>
          </a:xfrm>
          <a:prstGeom prst="roundRect">
            <a:avLst/>
          </a:prstGeom>
          <a:solidFill>
            <a:srgbClr val="EBEFF6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0A0A0C"/>
                </a:solidFill>
                <a:latin typeface="Arial" panose="020B0604020202020204"/>
              </a:rPr>
              <a:t>User task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7653527" y="2980944"/>
            <a:ext cx="0" cy="109728"/>
          </a:xfrm>
          <a:prstGeom prst="line">
            <a:avLst/>
          </a:prstGeom>
          <a:ln w="15240">
            <a:solidFill>
              <a:srgbClr val="162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/>
          <p:cNvSpPr/>
          <p:nvPr/>
        </p:nvSpPr>
        <p:spPr>
          <a:xfrm>
            <a:off x="5074920" y="3090672"/>
            <a:ext cx="516636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0A0A0C"/>
                </a:solidFill>
                <a:latin typeface="Arial" panose="020B0604020202020204"/>
              </a:rPr>
              <a:t>FastAPI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7653527" y="3493008"/>
            <a:ext cx="0" cy="109728"/>
          </a:xfrm>
          <a:prstGeom prst="line">
            <a:avLst/>
          </a:prstGeom>
          <a:ln w="15240">
            <a:solidFill>
              <a:srgbClr val="162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ounded Rectangle 122"/>
          <p:cNvSpPr/>
          <p:nvPr/>
        </p:nvSpPr>
        <p:spPr>
          <a:xfrm>
            <a:off x="5074920" y="3602736"/>
            <a:ext cx="5166360" cy="402336"/>
          </a:xfrm>
          <a:prstGeom prst="roundRect">
            <a:avLst/>
          </a:prstGeom>
          <a:solidFill>
            <a:srgbClr val="FBEBEC"/>
          </a:solidFill>
          <a:ln w="12700">
            <a:solidFill>
              <a:srgbClr val="D2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0A0A0C"/>
                </a:solidFill>
                <a:latin typeface="Arial" panose="020B0604020202020204"/>
              </a:rPr>
              <a:t>AgentCore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7653527" y="4005072"/>
            <a:ext cx="0" cy="109728"/>
          </a:xfrm>
          <a:prstGeom prst="line">
            <a:avLst/>
          </a:prstGeom>
          <a:ln w="15240">
            <a:solidFill>
              <a:srgbClr val="162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ounded Rectangle 124"/>
          <p:cNvSpPr/>
          <p:nvPr/>
        </p:nvSpPr>
        <p:spPr>
          <a:xfrm>
            <a:off x="5074920" y="4114800"/>
            <a:ext cx="516636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0A0A0C"/>
                </a:solidFill>
                <a:latin typeface="Arial" panose="020B0604020202020204"/>
              </a:rPr>
              <a:t>Tool Registry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7653527" y="4517136"/>
            <a:ext cx="0" cy="109728"/>
          </a:xfrm>
          <a:prstGeom prst="line">
            <a:avLst/>
          </a:prstGeom>
          <a:ln w="15240">
            <a:solidFill>
              <a:srgbClr val="162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ounded Rectangle 126"/>
          <p:cNvSpPr/>
          <p:nvPr/>
        </p:nvSpPr>
        <p:spPr>
          <a:xfrm>
            <a:off x="5074920" y="4626864"/>
            <a:ext cx="5166360" cy="402336"/>
          </a:xfrm>
          <a:prstGeom prst="roundRect">
            <a:avLst/>
          </a:prstGeom>
          <a:solidFill>
            <a:srgbClr val="EBEFF6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0A0A0C"/>
                </a:solidFill>
                <a:latin typeface="Arial" panose="020B0604020202020204"/>
              </a:rPr>
              <a:t>Tool result / observation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7653527" y="5029200"/>
            <a:ext cx="0" cy="109728"/>
          </a:xfrm>
          <a:prstGeom prst="line">
            <a:avLst/>
          </a:prstGeom>
          <a:ln w="15240">
            <a:solidFill>
              <a:srgbClr val="162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ounded Rectangle 128"/>
          <p:cNvSpPr/>
          <p:nvPr/>
        </p:nvSpPr>
        <p:spPr>
          <a:xfrm>
            <a:off x="5074920" y="5138928"/>
            <a:ext cx="516636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0A0A0C"/>
                </a:solidFill>
                <a:latin typeface="Arial" panose="020B0604020202020204"/>
              </a:rPr>
              <a:t>Next action or final result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68680" y="5715000"/>
            <a:ext cx="9692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B6370"/>
                </a:solidFill>
                <a:latin typeface="Arial" panose="020B0604020202020204"/>
              </a:rPr>
              <a:t>Agent modules: Planner • Memory • Parser • Tool Registry • Events  |  Demo repos: broken-login • broken-python • broken-api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105"/>
          <p:cNvSpPr txBox="1"/>
          <p:nvPr/>
        </p:nvSpPr>
        <p:spPr>
          <a:xfrm>
            <a:off x="822960" y="1298448"/>
            <a:ext cx="6400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0A0A0C"/>
                </a:solidFill>
                <a:latin typeface="Arial" panose="020B0604020202020204"/>
              </a:rPr>
              <a:t>Proposed Solution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41248" y="1938528"/>
            <a:ext cx="914400" cy="22860"/>
          </a:xfrm>
          <a:prstGeom prst="rect">
            <a:avLst/>
          </a:prstGeom>
          <a:solidFill>
            <a:srgbClr val="D2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841248" y="2176272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0A0A0C"/>
                </a:solidFill>
                <a:latin typeface="Arial" panose="020B0604020202020204"/>
              </a:rPr>
              <a:t>RepoPilot is an autonomous AI software debugging engineer that investigates repositories, selects tools, observes results, recovers from failures, and verifies a solution.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594360" y="3063240"/>
            <a:ext cx="9601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6223C"/>
                </a:solidFill>
                <a:latin typeface="Arial" panose="020B0604020202020204"/>
              </a:rPr>
              <a:t>TASK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1563624" y="3374136"/>
            <a:ext cx="256031" cy="0"/>
          </a:xfrm>
          <a:prstGeom prst="line">
            <a:avLst/>
          </a:prstGeom>
          <a:ln w="17780">
            <a:solidFill>
              <a:srgbClr val="162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ounded Rectangle 110"/>
          <p:cNvSpPr/>
          <p:nvPr/>
        </p:nvSpPr>
        <p:spPr>
          <a:xfrm>
            <a:off x="1874519" y="3063240"/>
            <a:ext cx="960120" cy="621792"/>
          </a:xfrm>
          <a:prstGeom prst="roundRect">
            <a:avLst/>
          </a:prstGeom>
          <a:solidFill>
            <a:srgbClr val="EBEFF6"/>
          </a:solidFill>
          <a:ln w="12700">
            <a:solidFill>
              <a:srgbClr val="16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6223C"/>
                </a:solidFill>
                <a:latin typeface="Arial" panose="020B0604020202020204"/>
              </a:rPr>
              <a:t>PLAN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2843784" y="3374136"/>
            <a:ext cx="256032" cy="0"/>
          </a:xfrm>
          <a:prstGeom prst="line">
            <a:avLst/>
          </a:prstGeom>
          <a:ln w="17780">
            <a:solidFill>
              <a:srgbClr val="162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ounded Rectangle 112"/>
          <p:cNvSpPr/>
          <p:nvPr/>
        </p:nvSpPr>
        <p:spPr>
          <a:xfrm>
            <a:off x="3154680" y="3063240"/>
            <a:ext cx="9601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6223C"/>
                </a:solidFill>
                <a:latin typeface="Arial" panose="020B0604020202020204"/>
              </a:rPr>
              <a:t>ACT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4123944" y="3374136"/>
            <a:ext cx="256032" cy="0"/>
          </a:xfrm>
          <a:prstGeom prst="line">
            <a:avLst/>
          </a:prstGeom>
          <a:ln w="17780">
            <a:solidFill>
              <a:srgbClr val="162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ounded Rectangle 114"/>
          <p:cNvSpPr/>
          <p:nvPr/>
        </p:nvSpPr>
        <p:spPr>
          <a:xfrm>
            <a:off x="4434840" y="3063240"/>
            <a:ext cx="960120" cy="621792"/>
          </a:xfrm>
          <a:prstGeom prst="roundRect">
            <a:avLst/>
          </a:prstGeom>
          <a:solidFill>
            <a:srgbClr val="EBEFF6"/>
          </a:solidFill>
          <a:ln w="12700">
            <a:solidFill>
              <a:srgbClr val="16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6223C"/>
                </a:solidFill>
                <a:latin typeface="Arial" panose="020B0604020202020204"/>
              </a:rPr>
              <a:t>OBSERVE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5404104" y="3374136"/>
            <a:ext cx="256032" cy="0"/>
          </a:xfrm>
          <a:prstGeom prst="line">
            <a:avLst/>
          </a:prstGeom>
          <a:ln w="17780">
            <a:solidFill>
              <a:srgbClr val="162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ounded Rectangle 116"/>
          <p:cNvSpPr/>
          <p:nvPr/>
        </p:nvSpPr>
        <p:spPr>
          <a:xfrm>
            <a:off x="5715000" y="3063240"/>
            <a:ext cx="960120" cy="621792"/>
          </a:xfrm>
          <a:prstGeom prst="roundRect">
            <a:avLst/>
          </a:prstGeom>
          <a:solidFill>
            <a:srgbClr val="FBEBEC"/>
          </a:solidFill>
          <a:ln w="12700">
            <a:solidFill>
              <a:srgbClr val="D2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6223C"/>
                </a:solidFill>
                <a:latin typeface="Arial" panose="020B0604020202020204"/>
              </a:rPr>
              <a:t>REFLECT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6684264" y="3374136"/>
            <a:ext cx="256032" cy="0"/>
          </a:xfrm>
          <a:prstGeom prst="line">
            <a:avLst/>
          </a:prstGeom>
          <a:ln w="17780">
            <a:solidFill>
              <a:srgbClr val="D2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Rounded Rectangle 118"/>
          <p:cNvSpPr/>
          <p:nvPr/>
        </p:nvSpPr>
        <p:spPr>
          <a:xfrm>
            <a:off x="6995160" y="3063240"/>
            <a:ext cx="960120" cy="621792"/>
          </a:xfrm>
          <a:prstGeom prst="roundRect">
            <a:avLst/>
          </a:prstGeom>
          <a:solidFill>
            <a:srgbClr val="FBEBEC"/>
          </a:solidFill>
          <a:ln w="12700">
            <a:solidFill>
              <a:srgbClr val="D2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6223C"/>
                </a:solidFill>
                <a:latin typeface="Arial" panose="020B0604020202020204"/>
              </a:rPr>
              <a:t>REPLAN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7964424" y="3374136"/>
            <a:ext cx="256032" cy="0"/>
          </a:xfrm>
          <a:prstGeom prst="line">
            <a:avLst/>
          </a:prstGeom>
          <a:ln w="17780">
            <a:solidFill>
              <a:srgbClr val="D2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/>
          <p:cNvSpPr/>
          <p:nvPr/>
        </p:nvSpPr>
        <p:spPr>
          <a:xfrm>
            <a:off x="8275320" y="3063240"/>
            <a:ext cx="9601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6223C"/>
                </a:solidFill>
                <a:latin typeface="Arial" panose="020B0604020202020204"/>
              </a:rPr>
              <a:t>VERIFY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9244584" y="3374136"/>
            <a:ext cx="256031" cy="0"/>
          </a:xfrm>
          <a:prstGeom prst="line">
            <a:avLst/>
          </a:prstGeom>
          <a:ln w="17780">
            <a:solidFill>
              <a:srgbClr val="162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ounded Rectangle 122"/>
          <p:cNvSpPr/>
          <p:nvPr/>
        </p:nvSpPr>
        <p:spPr>
          <a:xfrm>
            <a:off x="9555480" y="3063240"/>
            <a:ext cx="9601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6223C"/>
                </a:solidFill>
                <a:latin typeface="Arial" panose="020B0604020202020204"/>
              </a:rPr>
              <a:t>RESULT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41248" y="4160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D2232A"/>
                </a:solidFill>
                <a:latin typeface="Arial" panose="020B0604020202020204"/>
              </a:rPr>
              <a:t>KEY DIFFERENTIATOR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868680" y="4526280"/>
            <a:ext cx="4709160" cy="1234440"/>
          </a:xfrm>
          <a:prstGeom prst="roundRect">
            <a:avLst/>
          </a:prstGeom>
          <a:solidFill>
            <a:srgbClr val="FBEBEC"/>
          </a:solidFill>
          <a:ln w="12700">
            <a:solidFill>
              <a:srgbClr val="D2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0A0A0C"/>
                </a:solidFill>
                <a:latin typeface="Arial" panose="020B0604020202020204"/>
              </a:rPr>
              <a:t>The next action is chosen from what the agent observes — not from a hardcoded debugging sequence.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897880" y="41605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6223C"/>
                </a:solidFill>
                <a:latin typeface="Arial" panose="020B0604020202020204"/>
              </a:rPr>
              <a:t>WHAT THE USER SEES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5897880" y="4526280"/>
            <a:ext cx="457200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 sz="1200" b="0">
              <a:solidFill>
                <a:srgbClr val="0A0A0C"/>
              </a:solidFill>
              <a:latin typeface="Arial" panose="020B0604020202020204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6080760" y="4608576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6223C"/>
                </a:solidFill>
                <a:latin typeface="Arial" panose="020B0604020202020204"/>
              </a:rPr>
              <a:t>Trace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315200" y="4599432"/>
            <a:ext cx="28803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A0A0C"/>
                </a:solidFill>
                <a:latin typeface="Arial" panose="020B0604020202020204"/>
              </a:rPr>
              <a:t>Plan / tool / observation events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5897880" y="5029200"/>
            <a:ext cx="457200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 sz="1200" b="0">
              <a:solidFill>
                <a:srgbClr val="0A0A0C"/>
              </a:solidFill>
              <a:latin typeface="Arial" panose="020B0604020202020204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6080760" y="5111496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6223C"/>
                </a:solidFill>
                <a:latin typeface="Arial" panose="020B0604020202020204"/>
              </a:rPr>
              <a:t>Recovery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315200" y="5102352"/>
            <a:ext cx="28803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A0A0C"/>
                </a:solidFill>
                <a:latin typeface="Arial" panose="020B0604020202020204"/>
              </a:rPr>
              <a:t>Failure → reflection → replan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5897880" y="5532120"/>
            <a:ext cx="457200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 sz="1200" b="0">
              <a:solidFill>
                <a:srgbClr val="0A0A0C"/>
              </a:solidFill>
              <a:latin typeface="Arial" panose="020B0604020202020204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6080760" y="5614416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6223C"/>
                </a:solidFill>
                <a:latin typeface="Arial" panose="020B0604020202020204"/>
              </a:rPr>
              <a:t>Verification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315200" y="5605272"/>
            <a:ext cx="28803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A0A0C"/>
                </a:solidFill>
                <a:latin typeface="Arial" panose="020B0604020202020204"/>
              </a:rPr>
              <a:t>Tests / checks before final result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11"/>
          <p:cNvSpPr txBox="1"/>
          <p:nvPr/>
        </p:nvSpPr>
        <p:spPr>
          <a:xfrm>
            <a:off x="822960" y="1298448"/>
            <a:ext cx="6400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0A0A0C"/>
                </a:solidFill>
                <a:latin typeface="Arial" panose="020B0604020202020204"/>
              </a:rPr>
              <a:t>Innovation &amp; Novelty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41248" y="1938528"/>
            <a:ext cx="914400" cy="22860"/>
          </a:xfrm>
          <a:prstGeom prst="rect">
            <a:avLst/>
          </a:prstGeom>
          <a:solidFill>
            <a:srgbClr val="D2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ounded Rectangle 113"/>
          <p:cNvSpPr/>
          <p:nvPr/>
        </p:nvSpPr>
        <p:spPr>
          <a:xfrm>
            <a:off x="868680" y="2331720"/>
            <a:ext cx="4663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 sz="1400" b="0">
              <a:solidFill>
                <a:srgbClr val="0A0A0C"/>
              </a:solidFill>
              <a:latin typeface="Arial" panose="020B0604020202020204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1033271" y="2459736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D2232A"/>
                </a:solidFill>
                <a:latin typeface="Arial" panose="020B0604020202020204"/>
              </a:rPr>
              <a:t>01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554480" y="2459736"/>
            <a:ext cx="3749039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6223C"/>
                </a:solidFill>
                <a:latin typeface="Arial" panose="020B0604020202020204"/>
              </a:rPr>
              <a:t>AUTONOMOUS TOOL SELECTION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554480" y="2953512"/>
            <a:ext cx="37490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A0A0C"/>
                </a:solidFill>
                <a:latin typeface="Arial" panose="020B0604020202020204"/>
              </a:rPr>
              <a:t>Chooses among available tools based on the current debugging state.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897880" y="2331720"/>
            <a:ext cx="4663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 sz="1400" b="0">
              <a:solidFill>
                <a:srgbClr val="0A0A0C"/>
              </a:solidFill>
              <a:latin typeface="Arial" panose="020B0604020202020204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6062472" y="2459736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D2232A"/>
                </a:solidFill>
                <a:latin typeface="Arial" panose="020B0604020202020204"/>
              </a:rPr>
              <a:t>02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583680" y="2459736"/>
            <a:ext cx="3749039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6223C"/>
                </a:solidFill>
                <a:latin typeface="Arial" panose="020B0604020202020204"/>
              </a:rPr>
              <a:t>OBSERVATION-DRIVEN REASONING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583680" y="2953512"/>
            <a:ext cx="37490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A0A0C"/>
                </a:solidFill>
                <a:latin typeface="Arial" panose="020B0604020202020204"/>
              </a:rPr>
              <a:t>Tool outputs become evidence for the next decision.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868680" y="4160520"/>
            <a:ext cx="4663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 sz="1400" b="0">
              <a:solidFill>
                <a:srgbClr val="0A0A0C"/>
              </a:solidFill>
              <a:latin typeface="Arial" panose="020B0604020202020204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1033271" y="4288536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D2232A"/>
                </a:solidFill>
                <a:latin typeface="Arial" panose="020B0604020202020204"/>
              </a:rPr>
              <a:t>03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554480" y="4288536"/>
            <a:ext cx="3749039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6223C"/>
                </a:solidFill>
                <a:latin typeface="Arial" panose="020B0604020202020204"/>
              </a:rPr>
              <a:t>FAILURE → REFLECTION → REPLAN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554480" y="4782312"/>
            <a:ext cx="37490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A0A0C"/>
                </a:solidFill>
                <a:latin typeface="Arial" panose="020B0604020202020204"/>
              </a:rPr>
              <a:t>Unexpected results trigger adaptation instead of simple termination.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897880" y="4160520"/>
            <a:ext cx="4663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 sz="1400" b="0">
              <a:solidFill>
                <a:srgbClr val="0A0A0C"/>
              </a:solidFill>
              <a:latin typeface="Arial" panose="020B0604020202020204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062472" y="4288536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D2232A"/>
                </a:solidFill>
                <a:latin typeface="Arial" panose="020B0604020202020204"/>
              </a:rPr>
              <a:t>04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583680" y="4288536"/>
            <a:ext cx="3749039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6223C"/>
                </a:solidFill>
                <a:latin typeface="Arial" panose="020B0604020202020204"/>
              </a:rPr>
              <a:t>FROM SCRIPT TO AGENT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583680" y="4782312"/>
            <a:ext cx="37490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A0A0C"/>
                </a:solidFill>
                <a:latin typeface="Arial" panose="020B0604020202020204"/>
              </a:rPr>
              <a:t>The core abstraction is an OODA-style loop, not a fixed command chain.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68680" y="580644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D2232A"/>
                </a:solidFill>
                <a:latin typeface="Arial" panose="020B0604020202020204"/>
              </a:rPr>
              <a:t>AUTOMATION  A → B → C     |     REPΟPILOT  OBSERVE → DECIDE → ACT → ADAPT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117"/>
          <p:cNvSpPr txBox="1"/>
          <p:nvPr/>
        </p:nvSpPr>
        <p:spPr>
          <a:xfrm>
            <a:off x="822960" y="1298448"/>
            <a:ext cx="6400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0A0A0C"/>
                </a:solidFill>
                <a:latin typeface="Arial" panose="020B0604020202020204"/>
              </a:rPr>
              <a:t>Impact &amp; Benefits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41248" y="1938528"/>
            <a:ext cx="914400" cy="22860"/>
          </a:xfrm>
          <a:prstGeom prst="rect">
            <a:avLst/>
          </a:prstGeom>
          <a:solidFill>
            <a:srgbClr val="D2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868680" y="22402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5B6370"/>
                </a:solidFill>
                <a:latin typeface="Arial" panose="020B0604020202020204"/>
              </a:rPr>
              <a:t>CURRENT PROTOTYPE SCOPE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868680" y="2651760"/>
            <a:ext cx="2011680" cy="822960"/>
          </a:xfrm>
          <a:prstGeom prst="roundRect">
            <a:avLst/>
          </a:prstGeom>
          <a:solidFill>
            <a:srgbClr val="EBEFF6"/>
          </a:solidFill>
          <a:ln w="12700">
            <a:solidFill>
              <a:srgbClr val="16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 sz="2400" b="1">
              <a:solidFill>
                <a:srgbClr val="16223C"/>
              </a:solidFill>
              <a:latin typeface="Arial" panose="020B0604020202020204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1005839" y="2779776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D2232A"/>
                </a:solidFill>
                <a:latin typeface="Arial" panose="020B0604020202020204"/>
              </a:rPr>
              <a:t>3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527048" y="2779776"/>
            <a:ext cx="1143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A0A0C"/>
                </a:solidFill>
                <a:latin typeface="Arial" panose="020B0604020202020204"/>
              </a:rPr>
              <a:t>demo repository types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3200400" y="2651760"/>
            <a:ext cx="2011680" cy="822960"/>
          </a:xfrm>
          <a:prstGeom prst="roundRect">
            <a:avLst/>
          </a:prstGeom>
          <a:solidFill>
            <a:srgbClr val="EBEFF6"/>
          </a:solidFill>
          <a:ln w="12700">
            <a:solidFill>
              <a:srgbClr val="16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 sz="2400" b="1">
              <a:solidFill>
                <a:srgbClr val="16223C"/>
              </a:solidFill>
              <a:latin typeface="Arial" panose="020B0604020202020204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3337560" y="2779776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D2232A"/>
                </a:solidFill>
                <a:latin typeface="Arial" panose="020B0604020202020204"/>
              </a:rPr>
              <a:t>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858768" y="2779776"/>
            <a:ext cx="1143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A0A0C"/>
                </a:solidFill>
                <a:latin typeface="Arial" panose="020B0604020202020204"/>
              </a:rPr>
              <a:t>demo scenarios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868680" y="3703320"/>
            <a:ext cx="2011680" cy="822960"/>
          </a:xfrm>
          <a:prstGeom prst="roundRect">
            <a:avLst/>
          </a:prstGeom>
          <a:solidFill>
            <a:srgbClr val="EBEFF6"/>
          </a:solidFill>
          <a:ln w="12700">
            <a:solidFill>
              <a:srgbClr val="16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 sz="2400" b="1">
              <a:solidFill>
                <a:srgbClr val="16223C"/>
              </a:solidFill>
              <a:latin typeface="Arial" panose="020B0604020202020204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1005839" y="3831335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D2232A"/>
                </a:solidFill>
                <a:latin typeface="Arial" panose="020B0604020202020204"/>
              </a:rPr>
              <a:t>4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527048" y="3831335"/>
            <a:ext cx="1143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A0A0C"/>
                </a:solidFill>
                <a:latin typeface="Arial" panose="020B0604020202020204"/>
              </a:rPr>
              <a:t>tool classes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3200400" y="3703320"/>
            <a:ext cx="2011680" cy="822960"/>
          </a:xfrm>
          <a:prstGeom prst="roundRect">
            <a:avLst/>
          </a:prstGeom>
          <a:solidFill>
            <a:srgbClr val="EBEFF6"/>
          </a:solidFill>
          <a:ln w="12700">
            <a:solidFill>
              <a:srgbClr val="162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 sz="2400" b="1">
              <a:solidFill>
                <a:srgbClr val="16223C"/>
              </a:solidFill>
              <a:latin typeface="Arial" panose="020B0604020202020204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3337560" y="3831335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D2232A"/>
                </a:solidFill>
                <a:latin typeface="Arial" panose="020B0604020202020204"/>
              </a:rPr>
              <a:t>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858768" y="3831335"/>
            <a:ext cx="1143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A0A0C"/>
                </a:solidFill>
                <a:latin typeface="Arial" panose="020B0604020202020204"/>
              </a:rPr>
              <a:t>adaptive agent loop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897880" y="22402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5B6370"/>
                </a:solidFill>
                <a:latin typeface="Arial" panose="020B0604020202020204"/>
              </a:rPr>
              <a:t>WHO BENEFITS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5897880" y="2651760"/>
            <a:ext cx="45720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 sz="1200" b="0">
              <a:solidFill>
                <a:srgbClr val="0A0A0C"/>
              </a:solidFill>
              <a:latin typeface="Arial" panose="020B0604020202020204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6080760" y="2788920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6223C"/>
                </a:solidFill>
                <a:latin typeface="Arial" panose="020B0604020202020204"/>
              </a:rPr>
              <a:t>Developers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452360" y="2752344"/>
            <a:ext cx="27889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A0A0C"/>
                </a:solidFill>
                <a:latin typeface="Arial" panose="020B0604020202020204"/>
              </a:rPr>
              <a:t>Less manual investigation and clearer debugging evidence.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5897880" y="3611880"/>
            <a:ext cx="45720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 sz="1200" b="0">
              <a:solidFill>
                <a:srgbClr val="0A0A0C"/>
              </a:solidFill>
              <a:latin typeface="Arial" panose="020B0604020202020204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6080760" y="3749039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6223C"/>
                </a:solidFill>
                <a:latin typeface="Arial" panose="020B0604020202020204"/>
              </a:rPr>
              <a:t>Engineering teams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452360" y="3712463"/>
            <a:ext cx="27889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A0A0C"/>
                </a:solidFill>
                <a:latin typeface="Arial" panose="020B0604020202020204"/>
              </a:rPr>
              <a:t>Repeatable tool-assisted investigation with visible execution history.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5897880" y="4572000"/>
            <a:ext cx="45720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 sz="1200" b="0">
              <a:solidFill>
                <a:srgbClr val="0A0A0C"/>
              </a:solidFill>
              <a:latin typeface="Arial" panose="020B0604020202020204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6080760" y="4709160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6223C"/>
                </a:solidFill>
                <a:latin typeface="Arial" panose="020B0604020202020204"/>
              </a:rPr>
              <a:t>Agent builders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452360" y="4672583"/>
            <a:ext cx="27889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A0A0C"/>
                </a:solidFill>
                <a:latin typeface="Arial" panose="020B0604020202020204"/>
              </a:rPr>
              <a:t>A concrete example of autonomous planning, observation and recovery.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868680" y="5462270"/>
            <a:ext cx="9601200" cy="658368"/>
          </a:xfrm>
          <a:prstGeom prst="roundRect">
            <a:avLst/>
          </a:prstGeom>
          <a:solidFill>
            <a:srgbClr val="FBEBEC"/>
          </a:solidFill>
          <a:ln w="12700">
            <a:solidFill>
              <a:srgbClr val="D2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0A0A0C"/>
                </a:solidFill>
                <a:latin typeface="Arial" panose="020B0604020202020204"/>
              </a:rPr>
              <a:t>Impact claim: RepoPilot targets reduced repetitive debugging effort and faster evidence gathering. No unmeasured productivity percentages are claimed.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11225" y="626110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B6370"/>
                </a:solidFill>
                <a:latin typeface="Arial" panose="020B0604020202020204"/>
              </a:rPr>
              <a:t>SDG relevance: SDG 9 — Industry, Innovation &amp; Infrastructure (software innovation / developer infrastructure).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460</Words>
  <Application>Microsoft Office PowerPoint</Application>
  <PresentationFormat>Widescreen</PresentationFormat>
  <Paragraphs>94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Bebas Neue</vt:lpstr>
      <vt:lpstr>Arial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Siddhant Asati</cp:lastModifiedBy>
  <cp:revision>1</cp:revision>
  <dcterms:created xsi:type="dcterms:W3CDTF">2026-09-18T05:23:22Z</dcterms:created>
  <dcterms:modified xsi:type="dcterms:W3CDTF">2026-09-18T05:43:12Z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F12E0C5E480F4689A778FB3EA1B3A269_12</vt:lpwstr>
  </property>
  <property fmtid="{D5CDD505-2E9C-101B-9397-08002B2CF9AE}" pid="3" name="KSOProductBuildVer">
    <vt:lpwstr>1033-12.1.0.28485</vt:lpwstr>
  </property>
</Properties>
</file>