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</p:sldIdLst>
  <p:sldSz cx="12192000" cy="6858000"/>
  <p:notesSz cx="6858000" cy="9144000"/>
  <p:embeddedFontLst>
    <p:embeddedFont>
      <p:font typeface="Bebas Neue" panose="020B0606020202050201"/>
      <p:regular r:id="rId13"/>
    </p:embeddedFont>
    <p:embeddedFont>
      <p:font typeface="Poppins" panose="0000050000000000000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font" Target="fonts/font5.fntdata"/><Relationship Id="rId16" Type="http://schemas.openxmlformats.org/officeDocument/2006/relationships/font" Target="fonts/font4.fntdata"/><Relationship Id="rId15" Type="http://schemas.openxmlformats.org/officeDocument/2006/relationships/font" Target="fonts/font3.fntdata"/><Relationship Id="rId14" Type="http://schemas.openxmlformats.org/officeDocument/2006/relationships/font" Target="fonts/font2.fntdata"/><Relationship Id="rId13" Type="http://schemas.openxmlformats.org/officeDocument/2006/relationships/font" Target="fonts/font1.fntdata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5" name="Google Shape;85;p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" name="Google Shape;92;p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8" name="Google Shape;98;p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" name="Google Shape;104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0" name="Google Shape;110;p5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6" name="Google Shape;116;p6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/>
          <p:nvPr>
            <p:ph type="title"/>
          </p:nvPr>
        </p:nvSpPr>
        <p:spPr>
          <a:xfrm>
            <a:off x="838200" y="13057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type="body" idx="1"/>
          </p:nvPr>
        </p:nvSpPr>
        <p:spPr>
          <a:xfrm>
            <a:off x="838200" y="2506800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" name="Google Shape;23;p3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9" name="Google Shape;29;p4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 txBox="1"/>
          <p:nvPr>
            <p:ph type="title"/>
          </p:nvPr>
        </p:nvSpPr>
        <p:spPr>
          <a:xfrm>
            <a:off x="838200" y="124947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2" name="Google Shape;42;p6"/>
          <p:cNvSpPr txBox="1"/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4" name="Google Shape;44;p6"/>
          <p:cNvSpPr txBox="1"/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7"/>
          <p:cNvSpPr txBox="1"/>
          <p:nvPr>
            <p:ph type="title"/>
          </p:nvPr>
        </p:nvSpPr>
        <p:spPr>
          <a:xfrm>
            <a:off x="838200" y="124947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7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8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0" name="Google Shape;60;p9"/>
          <p:cNvSpPr txBox="1"/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9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9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/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10"/>
          <p:cNvSpPr txBox="1"/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8" name="Google Shape;68;p10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0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838200" y="124947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image" Target="../media/image3.png"/><Relationship Id="rId13" Type="http://schemas.openxmlformats.org/officeDocument/2006/relationships/image" Target="../media/image2.png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124947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Bebas Neue" panose="020B0606020202050201"/>
              <a:buNone/>
              <a:defRPr sz="440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400"/>
              <a:buFont typeface="Bebas Neue" panose="020B0606020202050201"/>
              <a:buNone/>
              <a:defRPr sz="1800">
                <a:solidFill>
                  <a:srgbClr val="FF0000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400"/>
              <a:buFont typeface="Bebas Neue" panose="020B0606020202050201"/>
              <a:buNone/>
              <a:defRPr sz="1800">
                <a:solidFill>
                  <a:srgbClr val="FF0000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400"/>
              <a:buFont typeface="Bebas Neue" panose="020B0606020202050201"/>
              <a:buNone/>
              <a:defRPr sz="1800">
                <a:solidFill>
                  <a:srgbClr val="FF0000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400"/>
              <a:buFont typeface="Bebas Neue" panose="020B0606020202050201"/>
              <a:buNone/>
              <a:defRPr sz="1800">
                <a:solidFill>
                  <a:srgbClr val="FF0000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400"/>
              <a:buFont typeface="Bebas Neue" panose="020B0606020202050201"/>
              <a:buNone/>
              <a:defRPr sz="1800">
                <a:solidFill>
                  <a:srgbClr val="FF0000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400"/>
              <a:buFont typeface="Bebas Neue" panose="020B0606020202050201"/>
              <a:buNone/>
              <a:defRPr sz="1800">
                <a:solidFill>
                  <a:srgbClr val="FF0000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400"/>
              <a:buFont typeface="Bebas Neue" panose="020B0606020202050201"/>
              <a:buNone/>
              <a:defRPr sz="1800">
                <a:solidFill>
                  <a:srgbClr val="FF0000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400"/>
              <a:buFont typeface="Bebas Neue" panose="020B0606020202050201"/>
              <a:buNone/>
              <a:defRPr sz="1800">
                <a:solidFill>
                  <a:srgbClr val="FF0000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838188" y="2506800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Font typeface="Poppins" panose="00000500000000000000"/>
              <a:buChar char="•"/>
              <a:defRPr sz="2800" i="0" u="none" strike="noStrike" cap="none"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Font typeface="Poppins" panose="00000500000000000000"/>
              <a:buChar char="•"/>
              <a:defRPr sz="2400" i="0" u="none" strike="noStrike" cap="none"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Font typeface="Poppins" panose="00000500000000000000"/>
              <a:buChar char="•"/>
              <a:defRPr sz="2000" i="0" u="none" strike="noStrike" cap="none"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Poppins" panose="00000500000000000000"/>
              <a:buChar char="•"/>
              <a:defRPr sz="1800" i="0" u="none" strike="noStrike" cap="none"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Poppins" panose="00000500000000000000"/>
              <a:buChar char="•"/>
              <a:defRPr sz="1800" i="0" u="none" strike="noStrike" cap="none"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Poppins" panose="00000500000000000000"/>
              <a:buChar char="•"/>
              <a:defRPr sz="1800" i="0" u="none" strike="noStrike" cap="none"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Poppins" panose="00000500000000000000"/>
              <a:buChar char="•"/>
              <a:defRPr sz="1800" i="0" u="none" strike="noStrike" cap="none"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Poppins" panose="00000500000000000000"/>
              <a:buChar char="•"/>
              <a:defRPr sz="1800" i="0" u="none" strike="noStrike" cap="none"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Poppins" panose="00000500000000000000"/>
              <a:buChar char="•"/>
              <a:defRPr sz="1800" i="0" u="none" strike="noStrike" cap="none"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pic>
        <p:nvPicPr>
          <p:cNvPr id="11" name="Google Shape;11;p1" title="i hackathon (3).png"/>
          <p:cNvPicPr preferRelativeResize="0"/>
          <p:nvPr/>
        </p:nvPicPr>
        <p:blipFill>
          <a:blip r:embed="rId12"/>
          <a:stretch>
            <a:fillRect/>
          </a:stretch>
        </p:blipFill>
        <p:spPr>
          <a:xfrm>
            <a:off x="838200" y="401500"/>
            <a:ext cx="758250" cy="76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2;p1" title="i_hackathon-removebg-preview.png"/>
          <p:cNvPicPr preferRelativeResize="0"/>
          <p:nvPr/>
        </p:nvPicPr>
        <p:blipFill>
          <a:blip r:embed="rId13"/>
          <a:stretch>
            <a:fillRect/>
          </a:stretch>
        </p:blipFill>
        <p:spPr>
          <a:xfrm>
            <a:off x="9339376" y="317500"/>
            <a:ext cx="2664498" cy="93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1" title="i_hackathon__1_-removebg-preview.png"/>
          <p:cNvPicPr preferRelativeResize="0"/>
          <p:nvPr/>
        </p:nvPicPr>
        <p:blipFill>
          <a:blip r:embed="rId14"/>
          <a:stretch>
            <a:fillRect/>
          </a:stretch>
        </p:blipFill>
        <p:spPr>
          <a:xfrm>
            <a:off x="4784763" y="178600"/>
            <a:ext cx="2622535" cy="93197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3" title="Screenshot 2026-09-15 at 9.07.19 PM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500096" y="1519623"/>
            <a:ext cx="3484549" cy="1517674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TextBox 89"/>
          <p:cNvSpPr txBox="1"/>
          <p:nvPr/>
        </p:nvSpPr>
        <p:spPr>
          <a:xfrm>
            <a:off x="2240280" y="2999232"/>
            <a:ext cx="7680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100" b="1">
                <a:solidFill>
                  <a:srgbClr val="16223C"/>
                </a:solidFill>
                <a:latin typeface="Arial" panose="020B0604020202020204"/>
              </a:rPr>
              <a:t>RepoPilot</a:t>
            </a:r>
            <a:endParaRPr sz="31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4617720" y="3584448"/>
            <a:ext cx="1600200" cy="22860"/>
          </a:xfrm>
          <a:prstGeom prst="rect">
            <a:avLst/>
          </a:prstGeom>
          <a:solidFill>
            <a:srgbClr val="D2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828800" y="3803904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0A0A0C"/>
                </a:solidFill>
                <a:latin typeface="Arial" panose="020B0604020202020204"/>
              </a:rPr>
              <a:t>BUILD THE BRAIN.  DEBUG ON AUTOPILOT.</a:t>
            </a:r>
            <a:endParaRPr sz="2000" b="1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2743200" y="4370832"/>
            <a:ext cx="65836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D2232A"/>
                </a:solidFill>
                <a:latin typeface="Arial" panose="020B0604020202020204"/>
              </a:rPr>
              <a:t>Track 2 — Build the Brain, Not the Puppet</a:t>
            </a:r>
            <a:endParaRPr sz="1500" b="1">
              <a:solidFill>
                <a:srgbClr val="D2232A"/>
              </a:solidFill>
              <a:latin typeface="Arial" panose="020B0604020202020204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2286000" y="4828032"/>
            <a:ext cx="749807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5B6370"/>
                </a:solidFill>
                <a:latin typeface="Arial" panose="020B0604020202020204"/>
              </a:rPr>
              <a:t>Team: Person 1 — Agent Brain  |  Person 2 — Tools &amp; Security  |  Person 3 — Frontend, API &amp; Demo</a:t>
            </a:r>
            <a:endParaRPr sz="1000" b="0">
              <a:solidFill>
                <a:srgbClr val="5B637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93"/>
          <p:cNvSpPr txBox="1"/>
          <p:nvPr/>
        </p:nvSpPr>
        <p:spPr>
          <a:xfrm>
            <a:off x="822960" y="1298448"/>
            <a:ext cx="64008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0A0A0C"/>
                </a:solidFill>
                <a:latin typeface="Arial" panose="020B0604020202020204"/>
              </a:rPr>
              <a:t>Problem Understanding</a:t>
            </a:r>
            <a:endParaRPr sz="3100" b="1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841248" y="1938528"/>
            <a:ext cx="914400" cy="22860"/>
          </a:xfrm>
          <a:prstGeom prst="rect">
            <a:avLst/>
          </a:prstGeom>
          <a:solidFill>
            <a:srgbClr val="D2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41248" y="2148840"/>
            <a:ext cx="4572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6223C"/>
                </a:solidFill>
                <a:latin typeface="Arial" panose="020B0604020202020204"/>
              </a:rPr>
              <a:t>DEBUGGING IS NOT A CHECKLIST.</a:t>
            </a:r>
            <a:endParaRPr sz="20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841248" y="2670048"/>
            <a:ext cx="470916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0A0A0C"/>
                </a:solidFill>
                <a:latin typeface="Arial" panose="020B0604020202020204"/>
              </a:rPr>
              <a:t>Real debugging is iterative: developers inspect code, form hypotheses, run checks, interpret evidence, and change direction when reality disagrees.</a:t>
            </a:r>
            <a:endParaRPr sz="17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5806440" y="2148840"/>
            <a:ext cx="4572000" cy="1783080"/>
          </a:xfrm>
          <a:prstGeom prst="roundRect">
            <a:avLst/>
          </a:prstGeom>
          <a:solidFill>
            <a:srgbClr val="FBEBEC"/>
          </a:solidFill>
          <a:ln w="12700">
            <a:solidFill>
              <a:srgbClr val="D2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7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6080760" y="235915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D2232A"/>
                </a:solidFill>
                <a:latin typeface="Arial" panose="020B0604020202020204"/>
              </a:rPr>
              <a:t>THE GAP</a:t>
            </a:r>
            <a:endParaRPr sz="1200" b="1">
              <a:solidFill>
                <a:srgbClr val="D2232A"/>
              </a:solidFill>
              <a:latin typeface="Arial" panose="020B0604020202020204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6080760" y="2724912"/>
            <a:ext cx="3977639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0A0A0C"/>
                </a:solidFill>
                <a:latin typeface="Arial" panose="020B0604020202020204"/>
              </a:rPr>
              <a:t>A fixed workflow can execute actions — but it cannot reliably decide what the next action should be after an unexpected result.</a:t>
            </a:r>
            <a:endParaRPr sz="16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841248" y="4160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5B6370"/>
                </a:solidFill>
                <a:latin typeface="Arial" panose="020B0604020202020204"/>
              </a:rPr>
              <a:t>FIXED AUTOMATION</a:t>
            </a:r>
            <a:endParaRPr sz="1100" b="1">
              <a:solidFill>
                <a:srgbClr val="5B6370"/>
              </a:solidFill>
              <a:latin typeface="Arial" panose="020B0604020202020204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868680" y="4572000"/>
            <a:ext cx="987552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0A0A0C"/>
                </a:solidFill>
                <a:latin typeface="Arial" panose="020B0604020202020204"/>
              </a:rPr>
              <a:t>Task</a:t>
            </a:r>
            <a:endParaRPr sz="1300" b="1">
              <a:solidFill>
                <a:srgbClr val="0A0A0C"/>
              </a:solidFill>
              <a:latin typeface="Arial" panose="020B0604020202020204"/>
            </a:endParaRPr>
          </a:p>
        </p:txBody>
      </p:sp>
      <p:cxnSp>
        <p:nvCxnSpPr>
          <p:cNvPr id="103" name="Connector 102"/>
          <p:cNvCxnSpPr/>
          <p:nvPr/>
        </p:nvCxnSpPr>
        <p:spPr>
          <a:xfrm>
            <a:off x="1874519" y="4855464"/>
            <a:ext cx="228601" cy="0"/>
          </a:xfrm>
          <a:prstGeom prst="line">
            <a:avLst/>
          </a:prstGeom>
          <a:ln w="19050">
            <a:solidFill>
              <a:srgbClr val="5B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2130552" y="4572000"/>
            <a:ext cx="987552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0A0A0C"/>
                </a:solidFill>
                <a:latin typeface="Arial" panose="020B0604020202020204"/>
              </a:rPr>
              <a:t>Tool A</a:t>
            </a:r>
            <a:endParaRPr sz="1300" b="1">
              <a:solidFill>
                <a:srgbClr val="0A0A0C"/>
              </a:solidFill>
              <a:latin typeface="Arial" panose="020B0604020202020204"/>
            </a:endParaRPr>
          </a:p>
        </p:txBody>
      </p:sp>
      <p:cxnSp>
        <p:nvCxnSpPr>
          <p:cNvPr id="105" name="Connector 104"/>
          <p:cNvCxnSpPr/>
          <p:nvPr/>
        </p:nvCxnSpPr>
        <p:spPr>
          <a:xfrm>
            <a:off x="3136391" y="4855464"/>
            <a:ext cx="228600" cy="0"/>
          </a:xfrm>
          <a:prstGeom prst="line">
            <a:avLst/>
          </a:prstGeom>
          <a:ln w="19050">
            <a:solidFill>
              <a:srgbClr val="5B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3392424" y="4572000"/>
            <a:ext cx="987552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0A0A0C"/>
                </a:solidFill>
                <a:latin typeface="Arial" panose="020B0604020202020204"/>
              </a:rPr>
              <a:t>Tool B</a:t>
            </a:r>
            <a:endParaRPr sz="1300" b="1">
              <a:solidFill>
                <a:srgbClr val="0A0A0C"/>
              </a:solidFill>
              <a:latin typeface="Arial" panose="020B0604020202020204"/>
            </a:endParaRPr>
          </a:p>
        </p:txBody>
      </p:sp>
      <p:cxnSp>
        <p:nvCxnSpPr>
          <p:cNvPr id="107" name="Connector 106"/>
          <p:cNvCxnSpPr/>
          <p:nvPr/>
        </p:nvCxnSpPr>
        <p:spPr>
          <a:xfrm>
            <a:off x="4398264" y="4855464"/>
            <a:ext cx="228600" cy="0"/>
          </a:xfrm>
          <a:prstGeom prst="line">
            <a:avLst/>
          </a:prstGeom>
          <a:ln w="19050">
            <a:solidFill>
              <a:srgbClr val="5B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4654296" y="4572000"/>
            <a:ext cx="987552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0A0A0C"/>
                </a:solidFill>
                <a:latin typeface="Arial" panose="020B0604020202020204"/>
              </a:rPr>
              <a:t>Done</a:t>
            </a:r>
            <a:endParaRPr sz="1300" b="1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6446520" y="416052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D2232A"/>
                </a:solidFill>
                <a:latin typeface="Arial" panose="020B0604020202020204"/>
              </a:rPr>
              <a:t>AUTONOMOUS LOOP</a:t>
            </a:r>
            <a:endParaRPr sz="1100" b="1">
              <a:solidFill>
                <a:srgbClr val="D2232A"/>
              </a:solidFill>
              <a:latin typeface="Arial" panose="020B0604020202020204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5989320" y="4526280"/>
            <a:ext cx="1170432" cy="502920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16223C"/>
                </a:solidFill>
                <a:latin typeface="Arial" panose="020B0604020202020204"/>
              </a:rPr>
              <a:t>Task</a:t>
            </a:r>
            <a:endParaRPr sz="12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11" name="Rounded Rectangle 110"/>
          <p:cNvSpPr/>
          <p:nvPr/>
        </p:nvSpPr>
        <p:spPr>
          <a:xfrm>
            <a:off x="7406640" y="4526280"/>
            <a:ext cx="1170432" cy="502920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16223C"/>
                </a:solidFill>
                <a:latin typeface="Arial" panose="020B0604020202020204"/>
              </a:rPr>
              <a:t>Plan</a:t>
            </a:r>
            <a:endParaRPr sz="12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8823960" y="4526280"/>
            <a:ext cx="1170432" cy="502920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16223C"/>
                </a:solidFill>
                <a:latin typeface="Arial" panose="020B0604020202020204"/>
              </a:rPr>
              <a:t>Choose</a:t>
            </a:r>
            <a:endParaRPr sz="12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13" name="Rounded Rectangle 112"/>
          <p:cNvSpPr/>
          <p:nvPr/>
        </p:nvSpPr>
        <p:spPr>
          <a:xfrm>
            <a:off x="5989320" y="5349240"/>
            <a:ext cx="1170432" cy="502920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16223C"/>
                </a:solidFill>
                <a:latin typeface="Arial" panose="020B0604020202020204"/>
              </a:rPr>
              <a:t>Observe</a:t>
            </a:r>
            <a:endParaRPr sz="12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7406640" y="5349240"/>
            <a:ext cx="1170432" cy="502920"/>
          </a:xfrm>
          <a:prstGeom prst="roundRect">
            <a:avLst/>
          </a:prstGeom>
          <a:solidFill>
            <a:srgbClr val="FBEBEC"/>
          </a:solidFill>
          <a:ln w="12700">
            <a:solidFill>
              <a:srgbClr val="D2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16223C"/>
                </a:solidFill>
                <a:latin typeface="Arial" panose="020B0604020202020204"/>
              </a:rPr>
              <a:t>Replan</a:t>
            </a:r>
            <a:endParaRPr sz="12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15" name="Rounded Rectangle 114"/>
          <p:cNvSpPr/>
          <p:nvPr/>
        </p:nvSpPr>
        <p:spPr>
          <a:xfrm>
            <a:off x="8823960" y="5349240"/>
            <a:ext cx="1170432" cy="502920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16223C"/>
                </a:solidFill>
                <a:latin typeface="Arial" panose="020B0604020202020204"/>
              </a:rPr>
              <a:t>Verify</a:t>
            </a:r>
            <a:endParaRPr sz="12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868680" y="5989320"/>
            <a:ext cx="9784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16223C"/>
                </a:solidFill>
                <a:latin typeface="Arial" panose="020B0604020202020204"/>
              </a:rPr>
              <a:t>Track requirement: BUILD THE BRAIN, NOT THE PUPPET — the agent adapts from observations rather than following a predetermined script.</a:t>
            </a:r>
            <a:endParaRPr sz="1000" b="1">
              <a:solidFill>
                <a:srgbClr val="16223C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Box 99"/>
          <p:cNvSpPr txBox="1"/>
          <p:nvPr/>
        </p:nvSpPr>
        <p:spPr>
          <a:xfrm>
            <a:off x="822960" y="1298448"/>
            <a:ext cx="64008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0A0A0C"/>
                </a:solidFill>
                <a:latin typeface="Arial" panose="020B0604020202020204"/>
              </a:rPr>
              <a:t>Technical Architecture</a:t>
            </a:r>
            <a:endParaRPr sz="3100" b="1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841248" y="1938528"/>
            <a:ext cx="914400" cy="22860"/>
          </a:xfrm>
          <a:prstGeom prst="rect">
            <a:avLst/>
          </a:prstGeom>
          <a:solidFill>
            <a:srgbClr val="D2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2194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5B6370"/>
                </a:solidFill>
                <a:latin typeface="Arial" panose="020B0604020202020204"/>
              </a:rPr>
              <a:t>STACK</a:t>
            </a:r>
            <a:endParaRPr sz="1100" b="1">
              <a:solidFill>
                <a:srgbClr val="5B6370"/>
              </a:solidFill>
              <a:latin typeface="Arial" panose="020B0604020202020204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868680" y="2578608"/>
            <a:ext cx="3703320" cy="475488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1033271" y="2660904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Frontend</a:t>
            </a:r>
            <a:endParaRPr sz="11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1874519" y="2651760"/>
            <a:ext cx="2468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React / Vite</a:t>
            </a:r>
            <a:endParaRPr sz="11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868680" y="3200400"/>
            <a:ext cx="37033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033271" y="3282696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API</a:t>
            </a:r>
            <a:endParaRPr sz="11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1874519" y="3273552"/>
            <a:ext cx="2468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FastAPI + Pydantic</a:t>
            </a:r>
            <a:endParaRPr sz="11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868680" y="3822191"/>
            <a:ext cx="3703320" cy="475488"/>
          </a:xfrm>
          <a:prstGeom prst="roundRect">
            <a:avLst/>
          </a:prstGeom>
          <a:solidFill>
            <a:srgbClr val="FBEBEC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1033271" y="3904488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Agent</a:t>
            </a:r>
            <a:endParaRPr sz="11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874519" y="3895344"/>
            <a:ext cx="2468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AgentCore + LLM interface</a:t>
            </a:r>
            <a:endParaRPr sz="11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868680" y="4443983"/>
            <a:ext cx="37033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1033271" y="452628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Tools</a:t>
            </a:r>
            <a:endParaRPr sz="11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1874519" y="4517136"/>
            <a:ext cx="2468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File • Shell • Search • Calculator</a:t>
            </a:r>
            <a:endParaRPr sz="11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15" name="Rounded Rectangle 114"/>
          <p:cNvSpPr/>
          <p:nvPr/>
        </p:nvSpPr>
        <p:spPr>
          <a:xfrm>
            <a:off x="868680" y="5065776"/>
            <a:ext cx="3703320" cy="475488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1033271" y="5148072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Testing</a:t>
            </a:r>
            <a:endParaRPr sz="11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1874519" y="5138928"/>
            <a:ext cx="2468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Pytest + integration tests</a:t>
            </a:r>
            <a:endParaRPr sz="11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5074920" y="2194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5B6370"/>
                </a:solidFill>
                <a:latin typeface="Arial" panose="020B0604020202020204"/>
              </a:rPr>
              <a:t>DATA FLOW</a:t>
            </a:r>
            <a:endParaRPr sz="1100" b="1">
              <a:solidFill>
                <a:srgbClr val="5B6370"/>
              </a:solidFill>
              <a:latin typeface="Arial" panose="020B0604020202020204"/>
            </a:endParaRPr>
          </a:p>
        </p:txBody>
      </p:sp>
      <p:sp>
        <p:nvSpPr>
          <p:cNvPr id="119" name="Rounded Rectangle 118"/>
          <p:cNvSpPr/>
          <p:nvPr/>
        </p:nvSpPr>
        <p:spPr>
          <a:xfrm>
            <a:off x="5074920" y="2578608"/>
            <a:ext cx="5166360" cy="402336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0">
                <a:solidFill>
                  <a:srgbClr val="0A0A0C"/>
                </a:solidFill>
                <a:latin typeface="Arial" panose="020B0604020202020204"/>
              </a:rPr>
              <a:t>User task</a:t>
            </a:r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cxnSp>
        <p:nvCxnSpPr>
          <p:cNvPr id="120" name="Connector 119"/>
          <p:cNvCxnSpPr/>
          <p:nvPr/>
        </p:nvCxnSpPr>
        <p:spPr>
          <a:xfrm>
            <a:off x="7653527" y="2980944"/>
            <a:ext cx="0" cy="109728"/>
          </a:xfrm>
          <a:prstGeom prst="line">
            <a:avLst/>
          </a:prstGeom>
          <a:ln w="15240">
            <a:solidFill>
              <a:srgbClr val="162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ounded Rectangle 120"/>
          <p:cNvSpPr/>
          <p:nvPr/>
        </p:nvSpPr>
        <p:spPr>
          <a:xfrm>
            <a:off x="5074920" y="3090672"/>
            <a:ext cx="516636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0">
                <a:solidFill>
                  <a:srgbClr val="0A0A0C"/>
                </a:solidFill>
                <a:latin typeface="Arial" panose="020B0604020202020204"/>
              </a:rPr>
              <a:t>FastAPI</a:t>
            </a:r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cxnSp>
        <p:nvCxnSpPr>
          <p:cNvPr id="122" name="Connector 121"/>
          <p:cNvCxnSpPr/>
          <p:nvPr/>
        </p:nvCxnSpPr>
        <p:spPr>
          <a:xfrm>
            <a:off x="7653527" y="3493008"/>
            <a:ext cx="0" cy="109728"/>
          </a:xfrm>
          <a:prstGeom prst="line">
            <a:avLst/>
          </a:prstGeom>
          <a:ln w="15240">
            <a:solidFill>
              <a:srgbClr val="162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5074920" y="3602736"/>
            <a:ext cx="5166360" cy="402336"/>
          </a:xfrm>
          <a:prstGeom prst="roundRect">
            <a:avLst/>
          </a:prstGeom>
          <a:solidFill>
            <a:srgbClr val="FBEBEC"/>
          </a:solidFill>
          <a:ln w="12700">
            <a:solidFill>
              <a:srgbClr val="D2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0A0A0C"/>
                </a:solidFill>
                <a:latin typeface="Arial" panose="020B0604020202020204"/>
              </a:rPr>
              <a:t>AgentCore</a:t>
            </a:r>
            <a:endParaRPr sz="1200" b="1">
              <a:solidFill>
                <a:srgbClr val="0A0A0C"/>
              </a:solidFill>
              <a:latin typeface="Arial" panose="020B0604020202020204"/>
            </a:endParaRPr>
          </a:p>
        </p:txBody>
      </p:sp>
      <p:cxnSp>
        <p:nvCxnSpPr>
          <p:cNvPr id="124" name="Connector 123"/>
          <p:cNvCxnSpPr/>
          <p:nvPr/>
        </p:nvCxnSpPr>
        <p:spPr>
          <a:xfrm>
            <a:off x="7653527" y="4005072"/>
            <a:ext cx="0" cy="109728"/>
          </a:xfrm>
          <a:prstGeom prst="line">
            <a:avLst/>
          </a:prstGeom>
          <a:ln w="15240">
            <a:solidFill>
              <a:srgbClr val="162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ounded Rectangle 124"/>
          <p:cNvSpPr/>
          <p:nvPr/>
        </p:nvSpPr>
        <p:spPr>
          <a:xfrm>
            <a:off x="5074920" y="4114800"/>
            <a:ext cx="516636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0">
                <a:solidFill>
                  <a:srgbClr val="0A0A0C"/>
                </a:solidFill>
                <a:latin typeface="Arial" panose="020B0604020202020204"/>
              </a:rPr>
              <a:t>Tool Registry</a:t>
            </a:r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cxnSp>
        <p:nvCxnSpPr>
          <p:cNvPr id="126" name="Connector 125"/>
          <p:cNvCxnSpPr/>
          <p:nvPr/>
        </p:nvCxnSpPr>
        <p:spPr>
          <a:xfrm>
            <a:off x="7653527" y="4517136"/>
            <a:ext cx="0" cy="109728"/>
          </a:xfrm>
          <a:prstGeom prst="line">
            <a:avLst/>
          </a:prstGeom>
          <a:ln w="15240">
            <a:solidFill>
              <a:srgbClr val="162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5074920" y="4626864"/>
            <a:ext cx="5166360" cy="402336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0A0A0C"/>
                </a:solidFill>
                <a:latin typeface="Arial" panose="020B0604020202020204"/>
              </a:rPr>
              <a:t>Tool result / observation</a:t>
            </a:r>
            <a:endParaRPr sz="1200" b="1">
              <a:solidFill>
                <a:srgbClr val="0A0A0C"/>
              </a:solidFill>
              <a:latin typeface="Arial" panose="020B0604020202020204"/>
            </a:endParaRPr>
          </a:p>
        </p:txBody>
      </p:sp>
      <p:cxnSp>
        <p:nvCxnSpPr>
          <p:cNvPr id="128" name="Connector 127"/>
          <p:cNvCxnSpPr/>
          <p:nvPr/>
        </p:nvCxnSpPr>
        <p:spPr>
          <a:xfrm>
            <a:off x="7653527" y="5029200"/>
            <a:ext cx="0" cy="109728"/>
          </a:xfrm>
          <a:prstGeom prst="line">
            <a:avLst/>
          </a:prstGeom>
          <a:ln w="15240">
            <a:solidFill>
              <a:srgbClr val="162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ounded Rectangle 128"/>
          <p:cNvSpPr/>
          <p:nvPr/>
        </p:nvSpPr>
        <p:spPr>
          <a:xfrm>
            <a:off x="5074920" y="5138928"/>
            <a:ext cx="516636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0">
                <a:solidFill>
                  <a:srgbClr val="0A0A0C"/>
                </a:solidFill>
                <a:latin typeface="Arial" panose="020B0604020202020204"/>
              </a:rPr>
              <a:t>Next action or final result</a:t>
            </a:r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868680" y="5715000"/>
            <a:ext cx="9692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B6370"/>
                </a:solidFill>
                <a:latin typeface="Arial" panose="020B0604020202020204"/>
              </a:rPr>
              <a:t>Agent modules: Planner • Memory • Parser • Tool Registry • Events  |  Demo repos: broken-login • broken-python • broken-api</a:t>
            </a:r>
            <a:endParaRPr sz="1100" b="0">
              <a:solidFill>
                <a:srgbClr val="5B637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Box 105"/>
          <p:cNvSpPr txBox="1"/>
          <p:nvPr/>
        </p:nvSpPr>
        <p:spPr>
          <a:xfrm>
            <a:off x="822960" y="1298448"/>
            <a:ext cx="64008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0A0A0C"/>
                </a:solidFill>
                <a:latin typeface="Arial" panose="020B0604020202020204"/>
              </a:rPr>
              <a:t>Proposed Solution</a:t>
            </a:r>
            <a:endParaRPr sz="3100" b="1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841248" y="1938528"/>
            <a:ext cx="914400" cy="22860"/>
          </a:xfrm>
          <a:prstGeom prst="rect">
            <a:avLst/>
          </a:prstGeom>
          <a:solidFill>
            <a:srgbClr val="D2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41248" y="2176272"/>
            <a:ext cx="9966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0A0A0C"/>
                </a:solidFill>
                <a:latin typeface="Arial" panose="020B0604020202020204"/>
              </a:rPr>
              <a:t>RepoPilot is an autonomous AI software debugging engineer that investigates repositories, selects tools, observes results, recovers from failures, and verifies a solution.</a:t>
            </a:r>
            <a:endParaRPr sz="17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594360" y="3063240"/>
            <a:ext cx="9601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TASK</a:t>
            </a:r>
            <a:endParaRPr sz="1100" b="1">
              <a:solidFill>
                <a:srgbClr val="16223C"/>
              </a:solidFill>
              <a:latin typeface="Arial" panose="020B0604020202020204"/>
            </a:endParaRPr>
          </a:p>
        </p:txBody>
      </p:sp>
      <p:cxnSp>
        <p:nvCxnSpPr>
          <p:cNvPr id="110" name="Connector 109"/>
          <p:cNvCxnSpPr/>
          <p:nvPr/>
        </p:nvCxnSpPr>
        <p:spPr>
          <a:xfrm>
            <a:off x="1563624" y="3374136"/>
            <a:ext cx="256031" cy="0"/>
          </a:xfrm>
          <a:prstGeom prst="line">
            <a:avLst/>
          </a:prstGeom>
          <a:ln w="17780">
            <a:solidFill>
              <a:srgbClr val="162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1874519" y="3063240"/>
            <a:ext cx="960120" cy="621792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PLAN</a:t>
            </a:r>
            <a:endParaRPr sz="1100" b="1">
              <a:solidFill>
                <a:srgbClr val="16223C"/>
              </a:solidFill>
              <a:latin typeface="Arial" panose="020B0604020202020204"/>
            </a:endParaRPr>
          </a:p>
        </p:txBody>
      </p:sp>
      <p:cxnSp>
        <p:nvCxnSpPr>
          <p:cNvPr id="112" name="Connector 111"/>
          <p:cNvCxnSpPr/>
          <p:nvPr/>
        </p:nvCxnSpPr>
        <p:spPr>
          <a:xfrm>
            <a:off x="2843784" y="3374136"/>
            <a:ext cx="256032" cy="0"/>
          </a:xfrm>
          <a:prstGeom prst="line">
            <a:avLst/>
          </a:prstGeom>
          <a:ln w="17780">
            <a:solidFill>
              <a:srgbClr val="162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3154680" y="3063240"/>
            <a:ext cx="9601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ACT</a:t>
            </a:r>
            <a:endParaRPr sz="1100" b="1">
              <a:solidFill>
                <a:srgbClr val="16223C"/>
              </a:solidFill>
              <a:latin typeface="Arial" panose="020B0604020202020204"/>
            </a:endParaRPr>
          </a:p>
        </p:txBody>
      </p:sp>
      <p:cxnSp>
        <p:nvCxnSpPr>
          <p:cNvPr id="114" name="Connector 113"/>
          <p:cNvCxnSpPr/>
          <p:nvPr/>
        </p:nvCxnSpPr>
        <p:spPr>
          <a:xfrm>
            <a:off x="4123944" y="3374136"/>
            <a:ext cx="256032" cy="0"/>
          </a:xfrm>
          <a:prstGeom prst="line">
            <a:avLst/>
          </a:prstGeom>
          <a:ln w="17780">
            <a:solidFill>
              <a:srgbClr val="162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4434840" y="3063240"/>
            <a:ext cx="960120" cy="621792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OBSERVE</a:t>
            </a:r>
            <a:endParaRPr sz="1100" b="1">
              <a:solidFill>
                <a:srgbClr val="16223C"/>
              </a:solidFill>
              <a:latin typeface="Arial" panose="020B0604020202020204"/>
            </a:endParaRPr>
          </a:p>
        </p:txBody>
      </p:sp>
      <p:cxnSp>
        <p:nvCxnSpPr>
          <p:cNvPr id="116" name="Connector 115"/>
          <p:cNvCxnSpPr/>
          <p:nvPr/>
        </p:nvCxnSpPr>
        <p:spPr>
          <a:xfrm>
            <a:off x="5404104" y="3374136"/>
            <a:ext cx="256032" cy="0"/>
          </a:xfrm>
          <a:prstGeom prst="line">
            <a:avLst/>
          </a:prstGeom>
          <a:ln w="17780">
            <a:solidFill>
              <a:srgbClr val="162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715000" y="3063240"/>
            <a:ext cx="960120" cy="621792"/>
          </a:xfrm>
          <a:prstGeom prst="roundRect">
            <a:avLst/>
          </a:prstGeom>
          <a:solidFill>
            <a:srgbClr val="FBEBEC"/>
          </a:solidFill>
          <a:ln w="12700">
            <a:solidFill>
              <a:srgbClr val="D2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REFLECT</a:t>
            </a:r>
            <a:endParaRPr sz="1100" b="1">
              <a:solidFill>
                <a:srgbClr val="16223C"/>
              </a:solidFill>
              <a:latin typeface="Arial" panose="020B0604020202020204"/>
            </a:endParaRPr>
          </a:p>
        </p:txBody>
      </p:sp>
      <p:cxnSp>
        <p:nvCxnSpPr>
          <p:cNvPr id="118" name="Connector 117"/>
          <p:cNvCxnSpPr/>
          <p:nvPr/>
        </p:nvCxnSpPr>
        <p:spPr>
          <a:xfrm>
            <a:off x="6684264" y="3374136"/>
            <a:ext cx="256032" cy="0"/>
          </a:xfrm>
          <a:prstGeom prst="line">
            <a:avLst/>
          </a:prstGeom>
          <a:ln w="17780">
            <a:solidFill>
              <a:srgbClr val="D223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ounded Rectangle 118"/>
          <p:cNvSpPr/>
          <p:nvPr/>
        </p:nvSpPr>
        <p:spPr>
          <a:xfrm>
            <a:off x="6995160" y="3063240"/>
            <a:ext cx="960120" cy="621792"/>
          </a:xfrm>
          <a:prstGeom prst="roundRect">
            <a:avLst/>
          </a:prstGeom>
          <a:solidFill>
            <a:srgbClr val="FBEBEC"/>
          </a:solidFill>
          <a:ln w="12700">
            <a:solidFill>
              <a:srgbClr val="D2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REPLAN</a:t>
            </a:r>
            <a:endParaRPr sz="1100" b="1">
              <a:solidFill>
                <a:srgbClr val="16223C"/>
              </a:solidFill>
              <a:latin typeface="Arial" panose="020B0604020202020204"/>
            </a:endParaRPr>
          </a:p>
        </p:txBody>
      </p:sp>
      <p:cxnSp>
        <p:nvCxnSpPr>
          <p:cNvPr id="120" name="Connector 119"/>
          <p:cNvCxnSpPr/>
          <p:nvPr/>
        </p:nvCxnSpPr>
        <p:spPr>
          <a:xfrm>
            <a:off x="7964424" y="3374136"/>
            <a:ext cx="256032" cy="0"/>
          </a:xfrm>
          <a:prstGeom prst="line">
            <a:avLst/>
          </a:prstGeom>
          <a:ln w="17780">
            <a:solidFill>
              <a:srgbClr val="D223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ounded Rectangle 120"/>
          <p:cNvSpPr/>
          <p:nvPr/>
        </p:nvSpPr>
        <p:spPr>
          <a:xfrm>
            <a:off x="8275320" y="3063240"/>
            <a:ext cx="9601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VERIFY</a:t>
            </a:r>
            <a:endParaRPr sz="1100" b="1">
              <a:solidFill>
                <a:srgbClr val="16223C"/>
              </a:solidFill>
              <a:latin typeface="Arial" panose="020B0604020202020204"/>
            </a:endParaRPr>
          </a:p>
        </p:txBody>
      </p:sp>
      <p:cxnSp>
        <p:nvCxnSpPr>
          <p:cNvPr id="122" name="Connector 121"/>
          <p:cNvCxnSpPr/>
          <p:nvPr/>
        </p:nvCxnSpPr>
        <p:spPr>
          <a:xfrm>
            <a:off x="9244584" y="3374136"/>
            <a:ext cx="256031" cy="0"/>
          </a:xfrm>
          <a:prstGeom prst="line">
            <a:avLst/>
          </a:prstGeom>
          <a:ln w="17780">
            <a:solidFill>
              <a:srgbClr val="162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9555480" y="3063240"/>
            <a:ext cx="9601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RESULT</a:t>
            </a:r>
            <a:endParaRPr sz="11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841248" y="416052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D2232A"/>
                </a:solidFill>
                <a:latin typeface="Arial" panose="020B0604020202020204"/>
              </a:rPr>
              <a:t>KEY DIFFERENTIATOR</a:t>
            </a:r>
            <a:endParaRPr sz="1100" b="1">
              <a:solidFill>
                <a:srgbClr val="D2232A"/>
              </a:solidFill>
              <a:latin typeface="Arial" panose="020B0604020202020204"/>
            </a:endParaRPr>
          </a:p>
        </p:txBody>
      </p:sp>
      <p:sp>
        <p:nvSpPr>
          <p:cNvPr id="125" name="Rounded Rectangle 124"/>
          <p:cNvSpPr/>
          <p:nvPr/>
        </p:nvSpPr>
        <p:spPr>
          <a:xfrm>
            <a:off x="868680" y="4526280"/>
            <a:ext cx="4709160" cy="1234440"/>
          </a:xfrm>
          <a:prstGeom prst="roundRect">
            <a:avLst/>
          </a:prstGeom>
          <a:solidFill>
            <a:srgbClr val="FBEBEC"/>
          </a:solidFill>
          <a:ln w="12700">
            <a:solidFill>
              <a:srgbClr val="D2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0A0A0C"/>
                </a:solidFill>
                <a:latin typeface="Arial" panose="020B0604020202020204"/>
              </a:rPr>
              <a:t>The next action is chosen from what the agent observes — not from a hardcoded debugging sequence.</a:t>
            </a:r>
            <a:endParaRPr sz="1600" b="1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5897880" y="416052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WHAT THE USER SEES</a:t>
            </a:r>
            <a:endParaRPr sz="11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27" name="Rounded Rectangle 126"/>
          <p:cNvSpPr/>
          <p:nvPr/>
        </p:nvSpPr>
        <p:spPr>
          <a:xfrm>
            <a:off x="5897880" y="4526280"/>
            <a:ext cx="457200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6080760" y="4608576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Trace</a:t>
            </a:r>
            <a:endParaRPr sz="11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7315200" y="4599432"/>
            <a:ext cx="288036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Plan / tool / observation events</a:t>
            </a:r>
            <a:endParaRPr sz="11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30" name="Rounded Rectangle 129"/>
          <p:cNvSpPr/>
          <p:nvPr/>
        </p:nvSpPr>
        <p:spPr>
          <a:xfrm>
            <a:off x="5897880" y="5029200"/>
            <a:ext cx="457200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6080760" y="5111496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Recovery</a:t>
            </a:r>
            <a:endParaRPr sz="11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7315200" y="5102352"/>
            <a:ext cx="288036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Failure → reflection → replan</a:t>
            </a:r>
            <a:endParaRPr sz="11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33" name="Rounded Rectangle 132"/>
          <p:cNvSpPr/>
          <p:nvPr/>
        </p:nvSpPr>
        <p:spPr>
          <a:xfrm>
            <a:off x="5897880" y="5532120"/>
            <a:ext cx="457200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6080760" y="5614416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Verification</a:t>
            </a:r>
            <a:endParaRPr sz="11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7315200" y="5605272"/>
            <a:ext cx="288036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Tests / checks before final result</a:t>
            </a:r>
            <a:endParaRPr sz="1100" b="0">
              <a:solidFill>
                <a:srgbClr val="0A0A0C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Box 111"/>
          <p:cNvSpPr txBox="1"/>
          <p:nvPr/>
        </p:nvSpPr>
        <p:spPr>
          <a:xfrm>
            <a:off x="822960" y="1298448"/>
            <a:ext cx="64008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0A0A0C"/>
                </a:solidFill>
                <a:latin typeface="Arial" panose="020B0604020202020204"/>
              </a:rPr>
              <a:t>Innovation &amp; Novelty</a:t>
            </a:r>
            <a:endParaRPr sz="3100" b="1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841248" y="1938528"/>
            <a:ext cx="914400" cy="22860"/>
          </a:xfrm>
          <a:prstGeom prst="rect">
            <a:avLst/>
          </a:prstGeom>
          <a:solidFill>
            <a:srgbClr val="D2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868680" y="2331720"/>
            <a:ext cx="4663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4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033271" y="2459736"/>
            <a:ext cx="4114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D2232A"/>
                </a:solidFill>
                <a:latin typeface="Arial" panose="020B0604020202020204"/>
              </a:rPr>
              <a:t>01</a:t>
            </a:r>
            <a:endParaRPr sz="1100" b="1">
              <a:solidFill>
                <a:srgbClr val="D2232A"/>
              </a:solidFill>
              <a:latin typeface="Arial" panose="020B0604020202020204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1554480" y="2459736"/>
            <a:ext cx="3749039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6223C"/>
                </a:solidFill>
                <a:latin typeface="Arial" panose="020B0604020202020204"/>
              </a:rPr>
              <a:t>AUTONOMOUS TOOL SELECTION</a:t>
            </a:r>
            <a:endParaRPr sz="12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1554480" y="2953512"/>
            <a:ext cx="3749039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Chooses among available tools based on the current debugging state.</a:t>
            </a:r>
            <a:endParaRPr sz="11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18" name="Rounded Rectangle 117"/>
          <p:cNvSpPr/>
          <p:nvPr/>
        </p:nvSpPr>
        <p:spPr>
          <a:xfrm>
            <a:off x="5897880" y="2331720"/>
            <a:ext cx="4663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4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6062472" y="2459736"/>
            <a:ext cx="4114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D2232A"/>
                </a:solidFill>
                <a:latin typeface="Arial" panose="020B0604020202020204"/>
              </a:rPr>
              <a:t>02</a:t>
            </a:r>
            <a:endParaRPr sz="1100" b="1">
              <a:solidFill>
                <a:srgbClr val="D2232A"/>
              </a:solidFill>
              <a:latin typeface="Arial" panose="020B0604020202020204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6583680" y="2459736"/>
            <a:ext cx="3749039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6223C"/>
                </a:solidFill>
                <a:latin typeface="Arial" panose="020B0604020202020204"/>
              </a:rPr>
              <a:t>OBSERVATION-DRIVEN REASONING</a:t>
            </a:r>
            <a:endParaRPr sz="12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21" name="TextBox 120"/>
          <p:cNvSpPr txBox="1"/>
          <p:nvPr/>
        </p:nvSpPr>
        <p:spPr>
          <a:xfrm>
            <a:off x="6583680" y="2953512"/>
            <a:ext cx="3749039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Tool outputs become evidence for the next decision.</a:t>
            </a:r>
            <a:endParaRPr sz="11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22" name="Rounded Rectangle 121"/>
          <p:cNvSpPr/>
          <p:nvPr/>
        </p:nvSpPr>
        <p:spPr>
          <a:xfrm>
            <a:off x="868680" y="4160520"/>
            <a:ext cx="4663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4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23" name="TextBox 122"/>
          <p:cNvSpPr txBox="1"/>
          <p:nvPr/>
        </p:nvSpPr>
        <p:spPr>
          <a:xfrm>
            <a:off x="1033271" y="4288536"/>
            <a:ext cx="4114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D2232A"/>
                </a:solidFill>
                <a:latin typeface="Arial" panose="020B0604020202020204"/>
              </a:rPr>
              <a:t>03</a:t>
            </a:r>
            <a:endParaRPr sz="1100" b="1">
              <a:solidFill>
                <a:srgbClr val="D2232A"/>
              </a:solidFill>
              <a:latin typeface="Arial" panose="020B0604020202020204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1554480" y="4288536"/>
            <a:ext cx="3749039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6223C"/>
                </a:solidFill>
                <a:latin typeface="Arial" panose="020B0604020202020204"/>
              </a:rPr>
              <a:t>FAILURE → REFLECTION → REPLAN</a:t>
            </a:r>
            <a:endParaRPr sz="12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1554480" y="4782312"/>
            <a:ext cx="3749039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Unexpected results trigger adaptation instead of simple termination.</a:t>
            </a:r>
            <a:endParaRPr sz="11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26" name="Rounded Rectangle 125"/>
          <p:cNvSpPr/>
          <p:nvPr/>
        </p:nvSpPr>
        <p:spPr>
          <a:xfrm>
            <a:off x="5897880" y="4160520"/>
            <a:ext cx="4663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4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27" name="TextBox 126"/>
          <p:cNvSpPr txBox="1"/>
          <p:nvPr/>
        </p:nvSpPr>
        <p:spPr>
          <a:xfrm>
            <a:off x="6062472" y="4288536"/>
            <a:ext cx="4114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D2232A"/>
                </a:solidFill>
                <a:latin typeface="Arial" panose="020B0604020202020204"/>
              </a:rPr>
              <a:t>04</a:t>
            </a:r>
            <a:endParaRPr sz="1100" b="1">
              <a:solidFill>
                <a:srgbClr val="D2232A"/>
              </a:solidFill>
              <a:latin typeface="Arial" panose="020B0604020202020204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6583680" y="4288536"/>
            <a:ext cx="3749039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6223C"/>
                </a:solidFill>
                <a:latin typeface="Arial" panose="020B0604020202020204"/>
              </a:rPr>
              <a:t>FROM SCRIPT TO AGENT</a:t>
            </a:r>
            <a:endParaRPr sz="12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6583680" y="4782312"/>
            <a:ext cx="3749039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The core abstraction is an OODA-style loop, not a fixed command chain.</a:t>
            </a:r>
            <a:endParaRPr sz="11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868680" y="5806440"/>
            <a:ext cx="10058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D2232A"/>
                </a:solidFill>
                <a:latin typeface="Arial" panose="020B0604020202020204"/>
              </a:rPr>
              <a:t>AUTOMATION  A → B → C     |     REPΟPILOT  OBSERVE → DECIDE → ACT → ADAPT</a:t>
            </a:r>
            <a:endParaRPr sz="1200" b="1">
              <a:solidFill>
                <a:srgbClr val="D2232A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Box 117"/>
          <p:cNvSpPr txBox="1"/>
          <p:nvPr/>
        </p:nvSpPr>
        <p:spPr>
          <a:xfrm>
            <a:off x="822960" y="1298448"/>
            <a:ext cx="64008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0A0A0C"/>
                </a:solidFill>
                <a:latin typeface="Arial" panose="020B0604020202020204"/>
              </a:rPr>
              <a:t>Impact &amp; Benefits</a:t>
            </a:r>
            <a:endParaRPr sz="3100" b="1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841248" y="1938528"/>
            <a:ext cx="914400" cy="22860"/>
          </a:xfrm>
          <a:prstGeom prst="rect">
            <a:avLst/>
          </a:prstGeom>
          <a:solidFill>
            <a:srgbClr val="D2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68680" y="22402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5B6370"/>
                </a:solidFill>
                <a:latin typeface="Arial" panose="020B0604020202020204"/>
              </a:rPr>
              <a:t>CURRENT PROTOTYPE SCOPE</a:t>
            </a:r>
            <a:endParaRPr sz="1100" b="1">
              <a:solidFill>
                <a:srgbClr val="5B6370"/>
              </a:solidFill>
              <a:latin typeface="Arial" panose="020B0604020202020204"/>
            </a:endParaRPr>
          </a:p>
        </p:txBody>
      </p:sp>
      <p:sp>
        <p:nvSpPr>
          <p:cNvPr id="121" name="Rounded Rectangle 120"/>
          <p:cNvSpPr/>
          <p:nvPr/>
        </p:nvSpPr>
        <p:spPr>
          <a:xfrm>
            <a:off x="868680" y="2651760"/>
            <a:ext cx="2011680" cy="822960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24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1005839" y="2779776"/>
            <a:ext cx="502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D2232A"/>
                </a:solidFill>
                <a:latin typeface="Arial" panose="020B0604020202020204"/>
              </a:rPr>
              <a:t>3</a:t>
            </a:r>
            <a:endParaRPr sz="2300" b="1">
              <a:solidFill>
                <a:srgbClr val="D2232A"/>
              </a:solidFill>
              <a:latin typeface="Arial" panose="020B0604020202020204"/>
            </a:endParaRPr>
          </a:p>
        </p:txBody>
      </p:sp>
      <p:sp>
        <p:nvSpPr>
          <p:cNvPr id="123" name="TextBox 122"/>
          <p:cNvSpPr txBox="1"/>
          <p:nvPr/>
        </p:nvSpPr>
        <p:spPr>
          <a:xfrm>
            <a:off x="1527048" y="2779776"/>
            <a:ext cx="1143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A0A0C"/>
                </a:solidFill>
                <a:latin typeface="Arial" panose="020B0604020202020204"/>
              </a:rPr>
              <a:t>demo repository types</a:t>
            </a:r>
            <a:endParaRPr sz="1100" b="1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24" name="Rounded Rectangle 123"/>
          <p:cNvSpPr/>
          <p:nvPr/>
        </p:nvSpPr>
        <p:spPr>
          <a:xfrm>
            <a:off x="3200400" y="2651760"/>
            <a:ext cx="2011680" cy="822960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24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3337560" y="2779776"/>
            <a:ext cx="502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D2232A"/>
                </a:solidFill>
                <a:latin typeface="Arial" panose="020B0604020202020204"/>
              </a:rPr>
              <a:t>3</a:t>
            </a:r>
            <a:endParaRPr sz="2300" b="1">
              <a:solidFill>
                <a:srgbClr val="D2232A"/>
              </a:solidFill>
              <a:latin typeface="Arial" panose="020B0604020202020204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3858768" y="2779776"/>
            <a:ext cx="1143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A0A0C"/>
                </a:solidFill>
                <a:latin typeface="Arial" panose="020B0604020202020204"/>
              </a:rPr>
              <a:t>demo scenarios</a:t>
            </a:r>
            <a:endParaRPr sz="1100" b="1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27" name="Rounded Rectangle 126"/>
          <p:cNvSpPr/>
          <p:nvPr/>
        </p:nvSpPr>
        <p:spPr>
          <a:xfrm>
            <a:off x="868680" y="3703320"/>
            <a:ext cx="2011680" cy="822960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24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1005839" y="3831335"/>
            <a:ext cx="502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D2232A"/>
                </a:solidFill>
                <a:latin typeface="Arial" panose="020B0604020202020204"/>
              </a:rPr>
              <a:t>4</a:t>
            </a:r>
            <a:endParaRPr sz="2300" b="1">
              <a:solidFill>
                <a:srgbClr val="D2232A"/>
              </a:solidFill>
              <a:latin typeface="Arial" panose="020B0604020202020204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1527048" y="3831335"/>
            <a:ext cx="1143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A0A0C"/>
                </a:solidFill>
                <a:latin typeface="Arial" panose="020B0604020202020204"/>
              </a:rPr>
              <a:t>tool classes</a:t>
            </a:r>
            <a:endParaRPr sz="1100" b="1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30" name="Rounded Rectangle 129"/>
          <p:cNvSpPr/>
          <p:nvPr/>
        </p:nvSpPr>
        <p:spPr>
          <a:xfrm>
            <a:off x="3200400" y="3703320"/>
            <a:ext cx="2011680" cy="822960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24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3337560" y="3831335"/>
            <a:ext cx="502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D2232A"/>
                </a:solidFill>
                <a:latin typeface="Arial" panose="020B0604020202020204"/>
              </a:rPr>
              <a:t>1</a:t>
            </a:r>
            <a:endParaRPr sz="2300" b="1">
              <a:solidFill>
                <a:srgbClr val="D2232A"/>
              </a:solidFill>
              <a:latin typeface="Arial" panose="020B0604020202020204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3858768" y="3831335"/>
            <a:ext cx="1143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A0A0C"/>
                </a:solidFill>
                <a:latin typeface="Arial" panose="020B0604020202020204"/>
              </a:rPr>
              <a:t>adaptive agent loop</a:t>
            </a:r>
            <a:endParaRPr sz="1100" b="1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5897880" y="22402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5B6370"/>
                </a:solidFill>
                <a:latin typeface="Arial" panose="020B0604020202020204"/>
              </a:rPr>
              <a:t>WHO BENEFITS</a:t>
            </a:r>
            <a:endParaRPr sz="1100" b="1">
              <a:solidFill>
                <a:srgbClr val="5B6370"/>
              </a:solidFill>
              <a:latin typeface="Arial" panose="020B0604020202020204"/>
            </a:endParaRPr>
          </a:p>
        </p:txBody>
      </p:sp>
      <p:sp>
        <p:nvSpPr>
          <p:cNvPr id="134" name="Rounded Rectangle 133"/>
          <p:cNvSpPr/>
          <p:nvPr/>
        </p:nvSpPr>
        <p:spPr>
          <a:xfrm>
            <a:off x="5897880" y="2651760"/>
            <a:ext cx="45720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6080760" y="2788920"/>
            <a:ext cx="1417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Developers</a:t>
            </a:r>
            <a:endParaRPr sz="11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7452360" y="2752344"/>
            <a:ext cx="278892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Less manual investigation and clearer debugging evidence.</a:t>
            </a:r>
            <a:endParaRPr sz="11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37" name="Rounded Rectangle 136"/>
          <p:cNvSpPr/>
          <p:nvPr/>
        </p:nvSpPr>
        <p:spPr>
          <a:xfrm>
            <a:off x="5897880" y="3611880"/>
            <a:ext cx="45720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6080760" y="3749039"/>
            <a:ext cx="1417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Engineering teams</a:t>
            </a:r>
            <a:endParaRPr sz="11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39" name="TextBox 138"/>
          <p:cNvSpPr txBox="1"/>
          <p:nvPr/>
        </p:nvSpPr>
        <p:spPr>
          <a:xfrm>
            <a:off x="7452360" y="3712463"/>
            <a:ext cx="278892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Repeatable tool-assisted investigation with visible execution history.</a:t>
            </a:r>
            <a:endParaRPr sz="11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40" name="Rounded Rectangle 139"/>
          <p:cNvSpPr/>
          <p:nvPr/>
        </p:nvSpPr>
        <p:spPr>
          <a:xfrm>
            <a:off x="5897880" y="4572000"/>
            <a:ext cx="45720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41" name="TextBox 140"/>
          <p:cNvSpPr txBox="1"/>
          <p:nvPr/>
        </p:nvSpPr>
        <p:spPr>
          <a:xfrm>
            <a:off x="6080760" y="4709160"/>
            <a:ext cx="1417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Agent builders</a:t>
            </a:r>
            <a:endParaRPr sz="11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7452360" y="4672583"/>
            <a:ext cx="278892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A concrete example of autonomous planning, observation and recovery.</a:t>
            </a:r>
            <a:endParaRPr sz="11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43" name="Rounded Rectangle 142"/>
          <p:cNvSpPr/>
          <p:nvPr/>
        </p:nvSpPr>
        <p:spPr>
          <a:xfrm>
            <a:off x="868680" y="5462270"/>
            <a:ext cx="9601200" cy="658368"/>
          </a:xfrm>
          <a:prstGeom prst="roundRect">
            <a:avLst/>
          </a:prstGeom>
          <a:solidFill>
            <a:srgbClr val="FBEBEC"/>
          </a:solidFill>
          <a:ln w="12700">
            <a:solidFill>
              <a:srgbClr val="D2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0A0A0C"/>
                </a:solidFill>
                <a:latin typeface="Arial" panose="020B0604020202020204"/>
              </a:rPr>
              <a:t>Impact claim: RepoPilot targets reduced repetitive debugging effort and faster evidence gathering. No unmeasured productivity percentages are claimed.</a:t>
            </a:r>
            <a:endParaRPr sz="1000" b="1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911225" y="6261100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B6370"/>
                </a:solidFill>
                <a:latin typeface="Arial" panose="020B0604020202020204"/>
              </a:rPr>
              <a:t>SDG relevance: SDG 9 — Industry, Innovation &amp; Infrastructure (software innovation / developer infrastructure).</a:t>
            </a:r>
            <a:endParaRPr sz="1000" b="0">
              <a:solidFill>
                <a:srgbClr val="5B637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2684</Words>
  <Application>WPS Presentation</Application>
  <PresentationFormat/>
  <Paragraphs>188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7" baseType="lpstr">
      <vt:lpstr>Arial</vt:lpstr>
      <vt:lpstr>SimSun</vt:lpstr>
      <vt:lpstr>Wingdings</vt:lpstr>
      <vt:lpstr>Arial</vt:lpstr>
      <vt:lpstr>Bebas Neue</vt:lpstr>
      <vt:lpstr>Poppins</vt:lpstr>
      <vt:lpstr>Play</vt:lpstr>
      <vt:lpstr>Segoe Print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bondr</cp:lastModifiedBy>
  <cp:revision>1</cp:revision>
  <dcterms:created xsi:type="dcterms:W3CDTF">2026-09-18T05:23:22Z</dcterms:created>
  <dcterms:modified xsi:type="dcterms:W3CDTF">2026-09-18T05:23:22Z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F12E0C5E480F4689A778FB3EA1B3A269_12</vt:lpwstr>
  </property>
  <property fmtid="{D5CDD505-2E9C-101B-9397-08002B2CF9AE}" pid="3" name="KSOProductBuildVer">
    <vt:lpwstr>1033-12.1.0.28485</vt:lpwstr>
  </property>
</Properties>
</file>